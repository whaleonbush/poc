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4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20040"/>
            <a:ext cx="1155161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latin typeface="맑은 고딕"/>
              </a:rPr>
              <a:t>AI </a:t>
            </a:r>
            <a:r>
              <a:rPr sz="1800" b="1" dirty="0" err="1">
                <a:latin typeface="맑은 고딕"/>
              </a:rPr>
              <a:t>모델</a:t>
            </a:r>
            <a:r>
              <a:rPr sz="1800" b="1" dirty="0">
                <a:latin typeface="맑은 고딕"/>
              </a:rPr>
              <a:t> </a:t>
            </a:r>
            <a:r>
              <a:rPr sz="1800" b="1" dirty="0" err="1">
                <a:latin typeface="맑은 고딕"/>
              </a:rPr>
              <a:t>벤치마크</a:t>
            </a:r>
            <a:r>
              <a:rPr sz="1800" b="1" dirty="0">
                <a:latin typeface="맑은 고딕"/>
              </a:rPr>
              <a:t> </a:t>
            </a:r>
            <a:r>
              <a:rPr sz="1800" b="1" dirty="0" err="1">
                <a:latin typeface="맑은 고딕"/>
              </a:rPr>
              <a:t>비교</a:t>
            </a:r>
            <a:r>
              <a:rPr sz="1800" b="1" dirty="0">
                <a:latin typeface="맑은 고딕"/>
              </a:rPr>
              <a:t> </a:t>
            </a:r>
            <a:r>
              <a:rPr sz="1800" b="1" dirty="0" err="1">
                <a:latin typeface="맑은 고딕"/>
              </a:rPr>
              <a:t>보고서</a:t>
            </a:r>
            <a:r>
              <a:rPr sz="1800" b="1" dirty="0">
                <a:latin typeface="맑은 고딕"/>
              </a:rPr>
              <a:t> </a:t>
            </a:r>
            <a:endParaRPr lang="en-US" sz="1800" b="1" dirty="0">
              <a:latin typeface="맑은 고딕"/>
            </a:endParaRPr>
          </a:p>
          <a:p>
            <a:pPr algn="l"/>
            <a:r>
              <a:rPr sz="1200" b="0" dirty="0">
                <a:latin typeface="맑은 고딕"/>
              </a:rPr>
              <a:t>Intelligence / Coding / Agentic Index </a:t>
            </a:r>
            <a:r>
              <a:rPr sz="1200" b="0" dirty="0" err="1">
                <a:latin typeface="맑은 고딕"/>
              </a:rPr>
              <a:t>종합</a:t>
            </a:r>
            <a:r>
              <a:rPr sz="1200" b="0" dirty="0">
                <a:latin typeface="맑은 고딕"/>
              </a:rPr>
              <a:t> </a:t>
            </a:r>
            <a:r>
              <a:rPr sz="1200" b="0" dirty="0" err="1">
                <a:latin typeface="맑은 고딕"/>
              </a:rPr>
              <a:t>분석</a:t>
            </a:r>
            <a:endParaRPr sz="1200" b="0" dirty="0">
              <a:latin typeface="맑은 고딕"/>
            </a:endParaRPr>
          </a:p>
          <a:p>
            <a:pPr algn="l"/>
            <a:r>
              <a:rPr sz="900" b="0" dirty="0">
                <a:latin typeface="맑은 고딕"/>
              </a:rPr>
              <a:t>2026년 6월 7일 · </a:t>
            </a:r>
            <a:r>
              <a:rPr sz="900" b="0" dirty="0" err="1">
                <a:latin typeface="맑은 고딕"/>
              </a:rPr>
              <a:t>출처</a:t>
            </a:r>
            <a:r>
              <a:rPr sz="900" b="0" dirty="0">
                <a:latin typeface="맑은 고딕"/>
              </a:rPr>
              <a:t>: Artificial Analysis (artificialanalysis.ai)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436068"/>
              </p:ext>
            </p:extLst>
          </p:nvPr>
        </p:nvGraphicFramePr>
        <p:xfrm>
          <a:off x="5469555" y="1135782"/>
          <a:ext cx="6302140" cy="431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모델</a:t>
                      </a:r>
                      <a:endParaRPr sz="1000" b="1" dirty="0"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Intelligence</a:t>
                      </a:r>
                      <a:r>
                        <a:rPr lang="en-US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(</a:t>
                      </a:r>
                      <a:r>
                        <a:rPr lang="ko-KR" altLang="en-US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종합</a:t>
                      </a:r>
                      <a:r>
                        <a:rPr lang="en-US" altLang="ko-KR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</a:t>
                      </a:r>
                      <a:endParaRPr sz="1000" b="1" dirty="0"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Coding</a:t>
                      </a:r>
                      <a:r>
                        <a:rPr lang="en-US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(</a:t>
                      </a:r>
                      <a:r>
                        <a:rPr lang="ko-KR" altLang="en-US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프로그래밍</a:t>
                      </a:r>
                      <a:r>
                        <a:rPr lang="en-US" altLang="ko-KR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</a:t>
                      </a:r>
                      <a:endParaRPr sz="1000" b="1" dirty="0"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Agentic</a:t>
                      </a:r>
                      <a:r>
                        <a:rPr lang="en-US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(</a:t>
                      </a:r>
                      <a:r>
                        <a:rPr lang="ko-KR" altLang="en-US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자율실행</a:t>
                      </a:r>
                      <a:r>
                        <a:rPr lang="en-US" altLang="ko-KR" sz="1000" b="1" dirty="0"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</a:t>
                      </a:r>
                      <a:endParaRPr sz="1000" b="1" dirty="0">
                        <a:latin typeface="HY중고딕" panose="02030600000101010101" pitchFamily="18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Claude Opus 4.8 (max)</a:t>
                      </a:r>
                    </a:p>
                  </a:txBody>
                  <a:tcPr anchor="ctr">
                    <a:solidFill>
                      <a:srgbClr val="D47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0000"/>
                          </a:solidFill>
                          <a:latin typeface="맑은 고딕"/>
                        </a:rPr>
                        <a:t>61.4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56.7 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0000"/>
                          </a:solidFill>
                          <a:latin typeface="맑은 고딕"/>
                        </a:rPr>
                        <a:t>77.8 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GPT-5.5 (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xhigh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/high)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60.2 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0000"/>
                          </a:solidFill>
                          <a:latin typeface="맑은 고딕"/>
                        </a:rPr>
                        <a:t>59.1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74.1 (2)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Claude Opus 4.7 (max)</a:t>
                      </a:r>
                    </a:p>
                  </a:txBody>
                  <a:tcPr anchor="ctr">
                    <a:solidFill>
                      <a:srgbClr val="D47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57.3 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52.5 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71.3 (3)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Gemini 3.1 Pro Preview</a:t>
                      </a:r>
                    </a:p>
                  </a:txBody>
                  <a:tcPr anchor="ctr"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57.2 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55.5 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59.1 (9)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Gemini 3.5 Flash</a:t>
                      </a:r>
                    </a:p>
                  </a:txBody>
                  <a:tcPr anchor="ctr"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55.3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45.0 (7)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70.3 (4)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Grok 4.3 (high)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53.2 (6)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41.0 (8)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65.9 (6)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Claude Sonnet 4.6 (max)</a:t>
                      </a:r>
                    </a:p>
                  </a:txBody>
                  <a:tcPr anchor="ctr">
                    <a:solidFill>
                      <a:srgbClr val="D47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51.7 (7)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50.9 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63.0 (7)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DeepSeek V4 Pro (Max)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51.5 (8)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47.5 (6)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67.2 (5)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DeepSeek V4 Flash (Max)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46.5 (9)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38.7 (9)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61.3 (8)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Gemma 4 31B</a:t>
                      </a:r>
                    </a:p>
                  </a:txBody>
                  <a:tcPr anchor="ctr"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39.2 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38.7 (9)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40.9 (10)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343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Claude 4.5 Haiku</a:t>
                      </a:r>
                    </a:p>
                  </a:txBody>
                  <a:tcPr anchor="ctr">
                    <a:solidFill>
                      <a:srgbClr val="D477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37.1 (11)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맑은 고딕"/>
                        </a:rPr>
                        <a:t>32.6 (11)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맑은 고딕"/>
                        </a:rPr>
                        <a:t>40.2 (11)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192" y="5705375"/>
            <a:ext cx="115516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latin typeface="맑은 고딕"/>
              </a:rPr>
              <a:t>핵심</a:t>
            </a:r>
            <a:r>
              <a:rPr sz="1200" b="1" dirty="0">
                <a:latin typeface="맑은 고딕"/>
              </a:rPr>
              <a:t> </a:t>
            </a:r>
            <a:r>
              <a:rPr sz="1200" b="1" dirty="0" err="1">
                <a:latin typeface="맑은 고딕"/>
              </a:rPr>
              <a:t>인사이트</a:t>
            </a:r>
            <a:endParaRPr sz="1200" b="1" dirty="0">
              <a:latin typeface="맑은 고딕"/>
            </a:endParaRPr>
          </a:p>
          <a:p>
            <a:pPr>
              <a:spcBef>
                <a:spcPts val="200"/>
              </a:spcBef>
            </a:pPr>
            <a:r>
              <a:rPr sz="900" dirty="0">
                <a:latin typeface="맑은 고딕"/>
              </a:rPr>
              <a:t>• </a:t>
            </a:r>
            <a:r>
              <a:rPr sz="900" b="1" dirty="0" err="1">
                <a:latin typeface="맑은 고딕"/>
              </a:rPr>
              <a:t>종합·에이전트</a:t>
            </a:r>
            <a:r>
              <a:rPr sz="900" b="1" dirty="0">
                <a:latin typeface="맑은 고딕"/>
              </a:rPr>
              <a:t> 1위: Claude Opus 4.8 (max) </a:t>
            </a:r>
            <a:r>
              <a:rPr sz="900" dirty="0">
                <a:latin typeface="맑은 고딕"/>
              </a:rPr>
              <a:t>— Intelligence 61.4, Agentic 77.8로 </a:t>
            </a:r>
            <a:r>
              <a:rPr sz="900" dirty="0" err="1">
                <a:latin typeface="맑은 고딕"/>
              </a:rPr>
              <a:t>에이전트형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업무에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최적</a:t>
            </a:r>
            <a:endParaRPr sz="900" dirty="0">
              <a:latin typeface="맑은 고딕"/>
            </a:endParaRPr>
          </a:p>
          <a:p>
            <a:pPr>
              <a:spcBef>
                <a:spcPts val="200"/>
              </a:spcBef>
            </a:pPr>
            <a:r>
              <a:rPr sz="900" dirty="0">
                <a:latin typeface="맑은 고딕"/>
              </a:rPr>
              <a:t>• </a:t>
            </a:r>
            <a:r>
              <a:rPr sz="900" b="1" dirty="0" err="1">
                <a:latin typeface="맑은 고딕"/>
              </a:rPr>
              <a:t>코딩</a:t>
            </a:r>
            <a:r>
              <a:rPr sz="900" b="1" dirty="0">
                <a:latin typeface="맑은 고딕"/>
              </a:rPr>
              <a:t> 1위: GPT-5.5 </a:t>
            </a:r>
            <a:r>
              <a:rPr sz="900" dirty="0">
                <a:latin typeface="맑은 고딕"/>
              </a:rPr>
              <a:t>— Coding 59.1로 </a:t>
            </a:r>
            <a:r>
              <a:rPr sz="900" dirty="0" err="1">
                <a:latin typeface="맑은 고딕"/>
              </a:rPr>
              <a:t>터미널·과학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코딩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과제에서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최고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성능</a:t>
            </a:r>
            <a:endParaRPr sz="900" dirty="0">
              <a:latin typeface="맑은 고딕"/>
            </a:endParaRPr>
          </a:p>
          <a:p>
            <a:pPr>
              <a:spcBef>
                <a:spcPts val="200"/>
              </a:spcBef>
            </a:pPr>
            <a:r>
              <a:rPr sz="900" dirty="0">
                <a:latin typeface="맑은 고딕"/>
              </a:rPr>
              <a:t>• </a:t>
            </a:r>
            <a:r>
              <a:rPr sz="900" dirty="0" err="1">
                <a:latin typeface="맑은 고딕"/>
              </a:rPr>
              <a:t>지수별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순위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역전</a:t>
            </a:r>
            <a:r>
              <a:rPr sz="900" dirty="0">
                <a:latin typeface="맑은 고딕"/>
              </a:rPr>
              <a:t>: Gemini 3.1 </a:t>
            </a:r>
            <a:r>
              <a:rPr sz="900" dirty="0" err="1">
                <a:latin typeface="맑은 고딕"/>
              </a:rPr>
              <a:t>Pro는</a:t>
            </a:r>
            <a:r>
              <a:rPr sz="900" dirty="0">
                <a:latin typeface="맑은 고딕"/>
              </a:rPr>
              <a:t> Intelligence 4위이나 Agentic 9위 / Gemini 3.5 </a:t>
            </a:r>
            <a:r>
              <a:rPr sz="900" dirty="0" err="1">
                <a:latin typeface="맑은 고딕"/>
              </a:rPr>
              <a:t>Flash는</a:t>
            </a:r>
            <a:r>
              <a:rPr sz="900" dirty="0">
                <a:latin typeface="맑은 고딕"/>
              </a:rPr>
              <a:t> Agentic 4위이나 Coding 7위 — </a:t>
            </a:r>
            <a:r>
              <a:rPr sz="900" dirty="0" err="1">
                <a:latin typeface="맑은 고딕"/>
              </a:rPr>
              <a:t>용도별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모델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선택</a:t>
            </a:r>
            <a:r>
              <a:rPr sz="900" dirty="0">
                <a:latin typeface="맑은 고딕"/>
              </a:rPr>
              <a:t> </a:t>
            </a:r>
            <a:r>
              <a:rPr sz="900" dirty="0" err="1">
                <a:latin typeface="맑은 고딕"/>
              </a:rPr>
              <a:t>필요</a:t>
            </a:r>
            <a:endParaRPr sz="900" dirty="0">
              <a:latin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D52416-DF14-EF90-FBE2-6DEC607A0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8780"/>
            <a:ext cx="5149516" cy="45031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301</Words>
  <Application>Microsoft Office PowerPoint</Application>
  <PresentationFormat>와이드스크린</PresentationFormat>
  <Paragraphs>55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HY중고딕</vt:lpstr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TAEUK KANG</cp:lastModifiedBy>
  <cp:revision>3</cp:revision>
  <dcterms:created xsi:type="dcterms:W3CDTF">2013-01-27T09:14:16Z</dcterms:created>
  <dcterms:modified xsi:type="dcterms:W3CDTF">2026-06-07T13:17:36Z</dcterms:modified>
  <cp:category/>
</cp:coreProperties>
</file>