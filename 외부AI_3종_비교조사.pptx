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66160"/>
            <a:ext cx="12191695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외부 AI 3종 비교 조사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9FC4E8"/>
                </a:solidFill>
                <a:latin typeface="Apple SD Gothic Neo"/>
              </a:rPr>
              <a:t>ChatGPT  ·  Gemini  · 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NC HW 개발팀  |  2026년 6월 외부 AI 도입 검토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8A929E"/>
                </a:solidFill>
                <a:latin typeface="Apple SD Gothic Neo"/>
              </a:rPr>
              <a:t>공식 문서 및 웹 사용자 평가 교차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평가 대상 및 평가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대상 (3종)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72768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72768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572768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OpenAI · GPT-5.x · 범용 / 에이전트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Gemini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286000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Google · 3.5 Flash · 장문 / 멀티모달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99232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999232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999232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Anthropic · Opus/Sonnet · 코딩 / 장기 에이전트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12471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기준 (6개 항목)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554480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554480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생산성 (코딩·추론)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1993392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993392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에이전트 (다단계 자동화)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432304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32304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문서·지식 (장문·검색·OCR)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2871216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871216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멀티모달 (이미지·PDF)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310128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10128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(관리·보안·연동)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3749040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749040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비용·속도 (API·사용 한도)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315968"/>
            <a:ext cx="11247120" cy="16002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443984"/>
            <a:ext cx="10835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방법 및 유의사항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1차: 각 사 공식 문서  /  2차: 웹 사용자 평가·비교 리뷰 (참고로 표기)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· 보안·라이선스는 별도 법무·보안 검토가 필요하며, 본 자료는 도입 검토용 참고 자료임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LLM 3종 비교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포지션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강점 (공식·참고)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유의점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8600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228600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28600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5460" y="228600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 올라운더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28600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7140" y="228600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추론·코딩·AgentKit·MCP·도구 생태계 최대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28600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0" y="228600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범용형으로 업무별 최적 모델은 상이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5468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31546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3154680"/>
            <a:ext cx="20116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75460" y="315468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연동·장문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0" y="3154680"/>
            <a:ext cx="502920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7140" y="315468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3.5 Flash 에이전트·코딩·검색·멀티모달·속도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3154680"/>
            <a:ext cx="2926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6340" y="315468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생태계 의존도 높음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02336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40233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0" y="402336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75460" y="402336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코딩·장기 에이전트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402336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7140" y="402336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Opus/Sonnet·1M 맥락·Claude Code·구조화 출력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402336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6340" y="402336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창의·범용은 ChatGPT 대비 평가 분산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74920"/>
            <a:ext cx="1120140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193792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핵심 시사점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단일 최우수 모델은 없으며, 업무 유형별 적합 모델이 상이합니다. 실무에서는 복수 도입·역할 분담이 일반적입니다.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ChatGPT (OpenAI)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GPT-5.5: 복잡 추론·코딩용 플래그십 (맥락 약 100만 토큰)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Responses API: 추론·도구·웹/파일 검색·Computer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AgentKit: 에이전트 설계·ChatKit·MCP·Evals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이미지·음성 등 전용 모델 라인업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만능형: DevOps·인프라·프로토타입에 강점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도구·플러그인 생태계가 가장 넓음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도입 사례·지원 체계 풍부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측정 자동화 스크립트 초안, CI/CD 로그 분석, 회의록·시험 보고서 초안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MCP로 사내 도구 연동 검토 시 후보 (보안 승인 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Gemini (Google)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Gemini 3.5 Flash: 에이전트·코딩·멀티모달 (2026.5 GA)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Search·File Search·URL Context 그라운딩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Managed Agents, Antigravity 개발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100+ 페이지 문서 추론 사례 (금융 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긴 코드베이스·사양서 한 번에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검색·최신 정보·비용 효율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보안·논리 분석 맥락 이해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센서·PMIC 데이터시트(수백 페이지)에서 설정값 찾기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스캔 PDF·회로도 캡처 OCR 후 텍스트 정리 (공식 OCR 사례)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Claude (Anthropic)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Opus 4.6/4.7, Sonnet 4.6: 복잡 추론·장기 에이전트 코딩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맥락 최대 100만 토큰 (Opus/Sonnet 4.6)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Code, Agent SDK, Skills, 구조화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 실행·웹 검색·PDF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프로덕션 코딩 품질·가독성 우위 평가 다수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멀티파일 리팩터링·레거시 코드 이해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규제·보안 민감 업무 선호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I2C/SPI 드라이버·HAL 코드 초안, MISRA-C 스타일 점검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옛날 펌웨어 코드 설명·인수인계 문서 초안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기능 비교 매트릭스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365760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평가 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371600"/>
            <a:ext cx="25603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69080" y="1371600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371600"/>
            <a:ext cx="25603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371600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20" y="1371600"/>
            <a:ext cx="25603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20" y="1371600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38528"/>
            <a:ext cx="3657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80" y="1938528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생산성 (코딩·추론)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1938528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07180" y="193852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1938528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193852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938528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7820" y="193852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505456"/>
            <a:ext cx="3657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" y="2505456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에이전트 (다단계 자동화)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69080" y="2505456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07180" y="2505456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2505456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2505456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89720" y="2505456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27820" y="2505456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072384"/>
            <a:ext cx="3657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580" y="3072384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문서·지식 (장문·검색·OCR)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69080" y="3072384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07180" y="3072384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0" y="3072384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7500" y="3072384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89720" y="3072384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27820" y="3072384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639312"/>
            <a:ext cx="3657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580" y="3639312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멀티모달 (이미지·PDF)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69080" y="3639312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07180" y="3639312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29400" y="3639312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7500" y="3639312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89720" y="3639312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27820" y="3639312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206240"/>
            <a:ext cx="3657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9580" y="4206240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엔터프라이즈 (관리·보안·연동)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9080" y="4206240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07180" y="4206240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0" y="4206240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7500" y="4206240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89720" y="4206240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7820" y="4206240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773168"/>
            <a:ext cx="3657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9580" y="4773168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비용·속도 (API·사용 한도)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69080" y="4773168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07180" y="477316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29400" y="4773168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67500" y="477316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89720" y="4773168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27820" y="477316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" y="5532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강함   ○ 보통   △ 상대적 약함   |   공식 자료 및 사용자 평가 종합 (정량 벤치마크 아님)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Reddit · X · GitHub · Slack · Discord — 조사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수집 범위 (5개 채널)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035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Reddit: 비교·불만 스레드, 고득표(수천 upvotes) 글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X: 개발자·빌더 커뮤니티, 2025~26 Claude 전환 논의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GitHub: Gist·claude-vs-codex 리포, 공식 Issues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Slack: 팀 협업·요약·엔터프라이즈 연동 사용기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Discord: 코딩 커뮤니티 서버·원격 제어·설문 배포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34440"/>
            <a:ext cx="5532120" cy="237744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한계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API 기반 전수 수집이 아님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개인 경험·버전·요금제에 따라 상이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홍보·제휴성 게시물 혼재 가능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→ 반복되는 평가 패턴 중심으로 정리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404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822192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사용자 공통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142A4A"/>
                </a:solidFill>
                <a:latin typeface="Apple SD Gothic Neo"/>
              </a:rPr>
              <a:t>• 단일 모델보다 업무별 복수 LLM 병행 사용이 일반적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공식 벤치마크보다 실사용 시 사용 한도·속도·오류가 더 중요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코딩은 Claude, 장문 문서·Google 연동은 Gemini, 범용·음성은 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(8/17)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플랫폼별 사용자 평가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플랫폼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2880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82880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126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 칼: 음성·이미지·검색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0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앱 통합 편함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182880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3420" y="182880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글·코드 품질, 한도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7744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37744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126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속도·위임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30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Workspace·긴 문서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37744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3420" y="237744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빌더층 이동·Claude Code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2608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292608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126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샌드박스·비용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30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무료 티어 보완용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292608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13420" y="292608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hooks·plugins·코드 품질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47472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47472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126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RAG 연결 비서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30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Workspace·Meet 요약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347472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13420" y="347472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문서·정책 분석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02336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02336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126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질문·이미지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30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설문·토론 활발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5320" y="402336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3420" y="402336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MCP 원격 코딩 제어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681728"/>
            <a:ext cx="11201400" cy="155448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791456"/>
            <a:ext cx="10789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대표 인용 패턴 (참고)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ChatGPT: "Swiss army knife" — 빠르고 넓지만 프로덕션 코드는 Claude가 낫다는 의견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Gemini: "검색 레이어" vs "긴 문서는 최고" — 코딩은 평가 갈림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Claude: "scalpel" — 멀티파일·리팩터링 호평, 느리고 한도 걸린다는 불만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(9/17)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커뮤니티 사용자 평가 (Reddit·X·GitHub·Slack·Discord)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커뮤니티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대표 사용기 · 인용 패턴 (참고)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56232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1856232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856232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58340" y="1856232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"만능 칼(ChatGPT) vs 정밀 메스(Claude)"; GPT-5 '답 짧다' 불만 4,600+ upvotes; Claude 한도 불만 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78024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2478024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2478024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8340" y="2478024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2025~26 빌더·개발자층 Claude 이동; Codex(속도·비용·위임) vs Claude Code(코드 품질) 논쟁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99816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3099816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099816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58340" y="3099816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Gist 비교: Claude 확장성·맥락 / Codex 샌드박스 보안; claude-code·gemini-cli Issues에 한도·자율과잉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21608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300" y="3721608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0240" y="3721608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58340" y="3721608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 AI: 스레드 요약·액션아이템; ChatGPT를 RAG '프론트도어 비서'로; 'Slack → 작업 자동화' 비교 기준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300" y="4343400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0240" y="4343400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58340" y="4343400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Claude Code를 MCP로 원격 제어(폰으로 코딩 지시·수신); 도구 비교·개발자 설문 토론 활발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102352"/>
            <a:ext cx="11247120" cy="111556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02936"/>
            <a:ext cx="10835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9FC4E8"/>
                </a:solidFill>
                <a:latin typeface="Apple SD Gothic Neo"/>
              </a:rPr>
              <a:t>HW 개발 시사점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공통 결론: 단일 모델이 아닌 업무별 병행 사용 — Reddit·X·GitHub 모두 도구 병행을 권장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팀 활용은 Slack 요약부터, Discord·MCP 원격 제어는 사내 보안 검토 후 적용 (외부 연동 주의)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(10/17)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정량 데이터 (제3자 설문·통계, 참고)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수치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56232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185623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'가장 사랑하는' 코딩툴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856232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8500" y="185623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46% · Cursor 19% · Copilot 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856232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39300" y="185623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JetBrains'26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86584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2386584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1차 사용 도구 점유율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386584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2386584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28% · Cursor 24% · Copilot 17% · Codex 11%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2386584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9300" y="2386584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16936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2916936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전체 사용(any-use)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916936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8500" y="2916936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Copilot 58% · Claude Code 54% · Cursor 49%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916936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39300" y="2916936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47288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3447288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멀티툴 동시 사용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3447288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8500" y="3447288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개발자 70~73%가 2개 이상 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3447288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39300" y="3447288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Awesome/Ivern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7640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3977640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멀티에이전트 시간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3977640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38500" y="3977640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11.4h/주 (단일툴 5.2h)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3977640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9300" y="3977640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Ivern 312명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507992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5300" y="450799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 도입 vs 신뢰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4507992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38500" y="450799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도입 84% · 신뢰 29% (전년比 -11p)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01200" y="4507992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39300" y="450799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Stack Overflow'25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166360"/>
            <a:ext cx="11247120" cy="105156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266944"/>
            <a:ext cx="10789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해석 시 유의사항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표본·방법이 상이한 제3자 설문이므로 '순위'보다 '경향'으로 해석. 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C0392B"/>
                </a:solidFill>
                <a:latin typeface="Apple SD Gothic Neo"/>
              </a:rPr>
              <a:t>'GPT-5 horrible' 4,600 upvotes, 해지 1.5M 등 언론 인용 수치는 공식 미검증.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LLM별 주요 제약 및 불만 사항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6200" cy="32918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 전환 후 '답 짧음·개성↓·다단계 추론↓' 대규모 불만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Plus 사용 한도(주당 thinking 메시지)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피크시간 품질 변동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안전필터 과도한 거절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280160"/>
            <a:ext cx="76200" cy="329184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'코드 바꾸지 말고 분석만' 지시 무시 등 지시 불이행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자율 과잉: 340파일 변경·28,745줄 삭제 + 허위 점검 로그 사건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멀티스텝에서 워크플로 상태 상실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소비자용 UX(파일 생성·검색 제어 제약)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280160"/>
            <a:ext cx="365760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280160"/>
            <a:ext cx="7620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13716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Apple SD Gothic Neo"/>
              </a:rPr>
              <a:t>Claude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71907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Rate limit 최대 불만: 주간 캡 1~2일 소진·경고 없이 차단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08483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8개 사용량 버킷 중 하나만 100%여도 throttle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45059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claude.ai·Code·Design 한도 통합 → 한 곳 쓰면 다른 곳↓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81635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상대적으로 느리고 비쌈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800600"/>
            <a:ext cx="11338560" cy="13258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800600"/>
            <a:ext cx="1069848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HW 개발 시사점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사내 Gauss(분당 3~4회 제한)처럼, 외부 LLM도 사용 한도가 실무 병목 요인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PoC 단계에서 사용 한도·응답 속도·코드 오류율을 정량 측정 권장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업무별 사용자 평가 (HW 개발 관점)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2024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920240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 품질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270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초안·Codex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7878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repo 통째·속도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1920240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4860" y="1920240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가독성·멀티파일 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487168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디버깅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270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수정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7878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보안·맥락 설명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2487168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04860" y="2487168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원인 설명 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5409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054096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5270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7878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PDF 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66760" y="3054096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4860" y="3054096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글·구조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21024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621024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에이전트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5270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PR·AgentKit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878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Antigravity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66760" y="3621024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4860" y="3621024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◎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187952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일상·멀티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5270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음성·이미지 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068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7878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Android·Google 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4187952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860" y="4187952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앱에서는 약함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4828032"/>
            <a:ext cx="11201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= 사용자 평가에서 상대적 강점으로 자주 언급 (공식 벤치마크 아님)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230368"/>
            <a:ext cx="11201400" cy="1078992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5321808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권장 조합 (참고)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Claude Code(코딩) + Gemini(장문 사양서·OCR) + ChatGPT(범용·음성·신속 질의)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PoC 권장: 업무별 2주 시범 운영 후 사용 한도·속도·오류율을 정량 측정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공식 자료 vs 사용자 평가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공식 자료 요지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사용자 평가 추가 지적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22402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24028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75460" y="224028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GPT-5.x, AgentKit, 생태계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24028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0340" y="224028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만능·Codex 빠름, 한도·품질 변동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0896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31089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3108960"/>
            <a:ext cx="47548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75460" y="310896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3.5 Flash 벤치, Google 연동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108960"/>
            <a:ext cx="5212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0340" y="310896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Workspace 편함, 코딩은 기대↓ 의견도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7764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397764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397764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75460" y="397764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Opus/Sonnet, 1M, Claude Code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97764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0340" y="397764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코드 1위 인상, 한도·속도 병목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956048"/>
            <a:ext cx="11201400" cy="1353312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029200"/>
            <a:ext cx="107899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F27E2E"/>
                </a:solidFill>
                <a:latin typeface="Apple SD Gothic Neo"/>
              </a:rPr>
              <a:t>도입 검토 체크리스트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1. 공식 문서로 기능 지원 여부 확인  2. PoC로 일상 사용 시 제약(한도·속도·코드 품질) 검증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 사내 Gauss와 역할 분리 — 외부 LLM은 보안 승인 후 고급 보조 수단으로 운용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HW 개발 업무별 적용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우선 검토 모델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선정 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18745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펌웨어·드라이버 초안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187452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1340" y="18745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Claude, 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187452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340" y="18745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구조·주석 품질 평가 우수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7744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237744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장문 데이터시트 요약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237744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1340" y="237744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237744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7340" y="237744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장문 문서·검색 연동이 공식 강점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8036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288036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측정 로그·표 정리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288036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1340" y="288036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3종 공통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288036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87340" y="288036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반복 정형화 작업에 모두 활용 가능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38328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스캔 PDF·회로도 OCR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38328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1340" y="338328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38328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87340" y="338328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문서·이미지 추론 공식 사례 보유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88620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1020" y="388620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다단계 자동화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388620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01340" y="388620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ChatGPT, Claude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388620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87340" y="388620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AgentKit / Claude Code 기반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8912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1020" y="43891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최종 회로·양산 판단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63240" y="438912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1340" y="43891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엔지니어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49240" y="438912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87340" y="43891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AI는 보조 수단, 실측 검증 필수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029200"/>
            <a:ext cx="11201400" cy="1143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12064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1F6FB2"/>
                </a:solidFill>
                <a:latin typeface="Apple SD Gothic Neo"/>
              </a:rPr>
              <a:t>선정 가이드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 중심 → Claude  |  장문 사양서·검색 → Gemini  |  범용·도구 연동 → ChatGPT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복수 도입·역할 분담 권장 (예: Claude 코딩 + Gemini 문서 처리)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결론: LLM별 사내 활용 방안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공식 자료와 사용자 사용 사례를 종합한, HW 개발 업무에서의 효율적 활용 방안입니다.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72768"/>
            <a:ext cx="3675887" cy="47548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측정 자동화·CI/CD 로그 분석 스크립트 초안 작성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회의록·시험 보고서 등 문서 초안 신속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AgentKit·MCP 기반 사내 도구 연동 (보안 승인 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399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399" y="1572768"/>
            <a:ext cx="3675887" cy="47548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7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수백 페이지 데이터시트·사양서 요약 및 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7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스캔 PDF·회로도 캡처 OCR 후 텍스트화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7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Workspace 기반 문서·협업 연계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8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78" y="1572768"/>
            <a:ext cx="3675887" cy="47548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8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6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펌웨어·드라이버 코드 초안 및 리팩터링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6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레거시 코드 분석·인수인계 문서화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6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 기반 장기 다단계 작업 수행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315968"/>
            <a:ext cx="11247120" cy="1627632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315968"/>
            <a:ext cx="10607040" cy="1627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9FC4E8"/>
                </a:solidFill>
                <a:latin typeface="Apple SD Gothic Neo"/>
              </a:rPr>
              <a:t>종합 결론 및 도입 제언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외부 LLM은 사내 Gauss를 대체하지 않고, 보안 검토 후 고급 보조 수단으로 역할 분담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업무별 PoC 1~2건 → 효과·보안·사용 한도 측정 → 팀 표준 활용 가이드 수립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참고  (16/17)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중국 LLM 상위 2종 vs ChatGPT — 성능·결과물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24688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2468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비교 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170432"/>
            <a:ext cx="29260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1170432"/>
            <a:ext cx="2926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ChatGPT (GPT-5.5)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70432"/>
            <a:ext cx="297180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170432"/>
            <a:ext cx="2971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DeepSeek V4 Pro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170432"/>
            <a:ext cx="29260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170432"/>
            <a:ext cx="2926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Qwen3.7-Max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91056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1591056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실무 코딩 (SWE-Bench)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591056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64180" y="1591056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최상위권 (프런티어)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1591056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0260" y="1591056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80.6% (근접)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60" y="1591056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2060" y="1591056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Pro 60.6% · Term 69.7%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11680"/>
            <a:ext cx="24688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300" y="2011680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과학 추론 (GPQA)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2011680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64180" y="2011680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상위권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2160" y="2011680"/>
            <a:ext cx="297180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90260" y="2011680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90.1%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2011680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2060" y="2011680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92.4% (최고급)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32304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2432304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맥락 길이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80" y="2432304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4180" y="2432304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수십만 토큰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60" y="2432304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0260" y="2432304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100만 토큰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23960" y="2432304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2060" y="2432304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100만 토큰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852928"/>
            <a:ext cx="24688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5300" y="2852928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출력 비용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26080" y="2852928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64180" y="2852928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기준 (1x)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2160" y="2852928"/>
            <a:ext cx="297180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90260" y="2852928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약 1/34 수준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23960" y="2852928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62060" y="2852928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ChatGPT보다 저렴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273552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5300" y="3273552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라이선스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3273552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64180" y="3273552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클로즈드 API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3273552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0260" y="3273552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오픈웨이트 (MIT)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23960" y="3273552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2060" y="3273552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클로즈드 API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822191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803903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ChatGPT 대비 결과물 차이 (실사용 평가)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206240"/>
            <a:ext cx="11155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코드: ChatGPT는 설명·주석이 친절한 범용형 / DeepSeek은 간결·고효율 코드와 수학·알고리즘 우위 / Qwen은 장기 에이전트·멀티스텝 일관성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한국어·문장: ChatGPT가 자연스러움·맥락 유지에서 우위 / 중국 모델은 영어·중국어가 강하고 한국어 미세 표현은 상대적 약세 가능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안정성: ChatGPT는 생태계·안전장치가 성숙 / 중국 모델은 환각률 개선(Qwen 22.9%)이나 정책·검열 편향 가능성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5440680"/>
            <a:ext cx="11292840" cy="86868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5440680"/>
            <a:ext cx="10835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도입 주의: 데이터 레지던시(관할) 보장 미흡 → HW 설계·소스코드 등 민감정보 입력 금지·법무/보안 검토 필수.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수치는 자가보고·제3자 벤치가 혼재 → 도입 전 사내 PoC로 재검증 (사내 Gauss 보조 용도로 한정 검토).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0584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공식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OpenAI / Google Gemini / Anthropic Claude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Reddit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9202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Foxafox 요약, RoboRhythms, TechRadar, ClaudeMeter, OpenTools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2316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Haseeb Qureshi Gist, rohittcodes/claude-vs-codex, claude-code·gemini-cli Issues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92608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설문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92608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JetBrains'26, digitalapplied, Ivern(312명), Stack Overflow'25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Slack·Discord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2900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editorialge, blockchain-council, State of AI Coding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3192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중국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319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aimlapi, benchlm.ai, qwen3lm, techjacksolutions, DataCamp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문서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4348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외부AI_3종_비교조사.md + 유저평가_비교조사.md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상세 URL은 동봉 마크다운 '외부AI_3종_비교조사.md' 참조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모델명·기능은 도입 시점에 공식 페이지에서 재확인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