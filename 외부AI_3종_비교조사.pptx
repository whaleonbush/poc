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삼성전자 스마트폰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+ 웹 사용기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보고 목적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왜 지금 비교하나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2026년 6월부터 외부 AI 도입을 검토합니다. 도입 전 ChatGPT·Gemini·Claude 각각의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444A55"/>
                </a:solidFill>
                <a:latin typeface="Apple SD Gothic Neo"/>
              </a:rPr>
              <a:t>강점과 차이를 알아두어, 우리 팀 업무에 맞는 도구를 고르기 위한 조사입니다.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58775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(6가지)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생산성 (코딩·문서·반복 업무)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4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에이전트 (자동으로 여러 단계 수행)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문서·지식 (긴 사양서·검색·OCR)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멀티모달 (이미지·PDF 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32120"/>
            <a:ext cx="5303520" cy="438912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532120"/>
            <a:ext cx="50292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비용·속도 (API·사용 제한)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606040"/>
            <a:ext cx="5257800" cy="32004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43200"/>
            <a:ext cx="48463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1차: 각 회사 공식 문서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2차: 웹 사용기·비교 리뷰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(참고로 표기)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주의: 보안·라이선스는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별도 법무·보안 검토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3종 한눈에 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한 줄 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만능형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범용이라 업무별 최적은 다를 수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연동·긴 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572000"/>
            <a:ext cx="11201400" cy="13716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70916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메시지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세 AI 모두 '최고 하나'가 아니라, 업무 유형별로 맞는 도구가 다릅니다. 실무에서는 복수 도입·역할 분담도 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137160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019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0195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코딩·추론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58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166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1901952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87740" y="190195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32304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43230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에이전트·MCP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3558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166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432304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7740" y="243230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62656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2962656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긴 문서·맥락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3558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2356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166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49640" y="296265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87740" y="2962656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493008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493008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검색·최신정보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558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166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3493008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7740" y="3493008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023360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023360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멀티모달·OCR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748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3558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2356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166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49640" y="402336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87740" y="4023360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53712"/>
            <a:ext cx="22860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553712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Google 연동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748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3558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166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4553712"/>
            <a:ext cx="292608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87740" y="4553712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084064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80" y="5084064"/>
            <a:ext cx="2209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코드 품질(참고)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9748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3558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2356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166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49640" y="508406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87740" y="5084064"/>
            <a:ext cx="2849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○ 보통  △ 상대적 약함  |  '코드 품질'은 웹 사용기 참고, 공식 벤치 아님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주의 (한계)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API로 전체 수집한 것이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다름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 글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'반복되는 패턴'만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유저들이 공통으로 말하는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'최고 하나'보다 업무별로 여러 AI를 스택으로 쓴다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벤치보다 '매일 쓸 때 한도·속도·실수'가 더 중요하다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긴 문서·Google 업무는 Gemini, 만능·음성은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플랫폼별에서 들리는 목소리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434840"/>
            <a:ext cx="11201400" cy="16916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553712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사용기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11247120" cy="11430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02352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'하나만'이 아니라 업무별 스택 사용 — Reddit·X·GitHub 모두 도구 갈아타기를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029200"/>
            <a:ext cx="11247120" cy="10972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13892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읽는 법 (주의)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서로 다른 제3자 설문 → '순위'보다 '경향'으로 해석. 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AI별 실사용 불만 (상세)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108813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HW팀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사내 Gauss의 '분당 3~4회 제한'처럼, 외부 AI도 '사용 한도'가 실무 병목이 됩니다.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→ PoC에서 한도·속도·코드 신뢰도(틀린 코드 비율)를 반드시 직접 측정하세요.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유저 평가 (HW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617720"/>
            <a:ext cx="11201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유저 후기에서 상대적 강점으로 자주 언급 (공식 벤치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1208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유저 추천 스택 (참고)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Gemini(긴 사양서·OCR) + ChatGPT(만능·음성·빠른 질문)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HW팀 PoC: 업무별로 2주씩 써 보고 한도·속도·실수율을 직접 측정 권장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유저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소개 vs 유저 평가 —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AI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공식이 말하는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유저가 추가로 말하는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09160"/>
            <a:ext cx="1120140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78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도입 시 체크리스트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1. 공식 문서로 '기능이 되는지' 확인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2. 유저 후기로 '매일 쓸 때 불편한지' PoC에서 확인 (한도·속도·코드 검증)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3. 사내 Gauss와 역할 분리 — 외부는 보안 승인 후 고급 보조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개발팀 적용 및 선택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이유 (쉬운 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8745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87452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8745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87452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8745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높음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7744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37744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37744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37744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37744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37744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문서·검색이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6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288036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88036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288036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모두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288036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288036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정리는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38328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38328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38328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38328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38328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38328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86200"/>
            <a:ext cx="25603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388620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3886200"/>
            <a:ext cx="2286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388620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3886200"/>
            <a:ext cx="6355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388620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89120"/>
            <a:ext cx="256032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1020" y="4389120"/>
            <a:ext cx="2484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최종 회로·양산 판단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63240" y="4389120"/>
            <a:ext cx="228600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1340" y="4389120"/>
            <a:ext cx="2209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사람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4389120"/>
            <a:ext cx="6355080" cy="50292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87340" y="4389120"/>
            <a:ext cx="6278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AI는 보조, 실측 필수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4892040"/>
            <a:ext cx="11201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02920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선택 가이드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긴 사양서·검색 → Gemini  |  범용·도구 연결 → ChatGPT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 및 제언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611880" cy="5029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당장 PoC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코드·문서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측정 데이터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로그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반복 업무 자동화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1325880"/>
            <a:ext cx="3611880" cy="502920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신중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회로·부품 최종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불량 원인 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양산 영향 평가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1325880"/>
            <a:ext cx="3611880" cy="29260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75320" y="1325880"/>
            <a:ext cx="3611880" cy="5029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1325880"/>
            <a:ext cx="3611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개선·검토 과제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0116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보안·법무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4688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사내 Gauss와 역할 분리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9260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팀 공통 가이드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3154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- 도구별 라이선스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526280"/>
            <a:ext cx="11018520" cy="14173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9FC4E8"/>
                </a:solidFill>
                <a:latin typeface="Apple SD Gothic Neo"/>
              </a:rPr>
              <a:t>최종 결론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외부 AI는 사내 Gauss를 대체하기보다, 보안 검토 후 '고급 보조'로 쓰는 것이 현실적입니다.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6월 도입 전: 업무별 PoC 1~2건 선정 → 효과·보안 측정 → 팀 표준 가이드화를 제안합니다.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— 강점 및 평가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78892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7889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DeepSeek V4 Pro (오픈웨이트·MIT)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오픈웨이트(MIT)·1M 맥락 → 자체 호스팅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코딩·수학 최강 오픈모델: LiveCodeBench 93.5%, SWE-Bench Verified 80.6%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출력 비용 GPT-5.5 대비 약 1/34 ($0.44/$0.87 per 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평가: '가성비 1위', 수학·코드 특화 / BenchLM 중국모델 1위(88점)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78892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78892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Qwen3.7-Max (Alibaba·프로프라이어터리)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에이전트 특화 플래그십·1M 맥락·네이티브 확장 사고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SWE-Bench Pro 60.6%, Terminal-Bench 2.0 69.7%, GPQA 92.4%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프런티어 중 최저 환각률 22.9%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7063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평가: 'Agent·멀티스텝 벤치 SOTA' / 장기 코딩 에이전트 우위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51960"/>
            <a:ext cx="11201400" cy="1874519"/>
          </a:xfrm>
          <a:prstGeom prst="roundRect">
            <a:avLst/>
          </a:prstGeom>
          <a:solidFill>
            <a:srgbClr val="FEF1E6"/>
          </a:solidFill>
          <a:ln w="1778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70832"/>
            <a:ext cx="108356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도입 주의 (HW팀 보안 관점)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• 데이터 거버넌스: 미국·국내 관할 데이터 레지던시 보장 미흡 → 사내 보안·법무 검토 필수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HW 설계·소스코드 등 민감 정보 입력 금지 권고 (외부 전송 위험)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수치는 자가보고·제3자 벤치 혼재 → 도입 전 사내 PoC로 재검증 (Gauss 보조 용도)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