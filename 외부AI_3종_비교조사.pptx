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66160"/>
            <a:ext cx="12191695" cy="508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pple SD Gothic Neo"/>
              </a:rPr>
              <a:t>외부 AI 3종 비교 조사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9FC4E8"/>
                </a:solidFill>
                <a:latin typeface="Apple SD Gothic Neo"/>
              </a:rPr>
              <a:t>ChatGPT  ·  Gemini  · 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8404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C9D8EA"/>
                </a:solidFill>
                <a:latin typeface="Apple SD Gothic Neo"/>
              </a:rPr>
              <a:t>삼성전자 스마트폰 HW 개발팀  |  2026년 6월 외부 AI 도입 검토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8A929E"/>
                </a:solidFill>
                <a:latin typeface="Apple SD Gothic Neo"/>
              </a:rPr>
              <a:t>공식 문서 + 웹 사용기 교차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(1/14)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보고 목적 및 평가 기준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078992"/>
            <a:ext cx="5486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왜 지금 비교하나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087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444A55"/>
                </a:solidFill>
                <a:latin typeface="Apple SD Gothic Neo"/>
              </a:rPr>
              <a:t>2026년 6월부터 외부 AI 도입을 검토합니다. 도입 전 ChatGPT·Gemini·Claude 각각의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444A55"/>
                </a:solidFill>
                <a:latin typeface="Apple SD Gothic Neo"/>
              </a:rPr>
              <a:t>강점과 차이를 알아두어, 우리 팀 업무에 맞는 도구를 고르기 위한 조사입니다.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606040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2587752"/>
            <a:ext cx="5486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평가 기준 (6가지)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017520"/>
            <a:ext cx="5303520" cy="438912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017520"/>
            <a:ext cx="50292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생산성 (코딩·문서·반복 업무)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520440"/>
            <a:ext cx="5303520" cy="438912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520440"/>
            <a:ext cx="50292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에이전트 (자동으로 여러 단계 수행)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023360"/>
            <a:ext cx="5303520" cy="438912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023360"/>
            <a:ext cx="50292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문서·지식 (긴 사양서·검색·OCR)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526280"/>
            <a:ext cx="5303520" cy="438912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526280"/>
            <a:ext cx="50292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멀티모달 (이미지·PDF 등)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029200"/>
            <a:ext cx="5303520" cy="438912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029200"/>
            <a:ext cx="50292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엔터프라이즈 (관리·보안·연동)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532120"/>
            <a:ext cx="5303520" cy="438912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532120"/>
            <a:ext cx="50292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비용·속도 (API·사용 제한)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2606040"/>
            <a:ext cx="5257800" cy="3200400"/>
          </a:xfrm>
          <a:prstGeom prst="roundRect">
            <a:avLst/>
          </a:prstGeom>
          <a:solidFill>
            <a:srgbClr val="FEF1E6"/>
          </a:solidFill>
          <a:ln w="1524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2743200"/>
            <a:ext cx="484632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>
                <a:solidFill>
                  <a:srgbClr val="F27E2E"/>
                </a:solidFill>
                <a:latin typeface="Apple SD Gothic Neo"/>
              </a:rPr>
              <a:t>조사 방법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1차: 각 회사 공식 문서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2차: 웹 사용기·비교 리뷰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>
                <a:solidFill>
                  <a:srgbClr val="8A929E"/>
                </a:solidFill>
                <a:latin typeface="Apple SD Gothic Neo"/>
              </a:rPr>
              <a:t>(참고로 표기)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800" b="0">
                <a:solidFill>
                  <a:srgbClr val="444A55"/>
                </a:solidFill>
                <a:latin typeface="Apple SD Gothic Neo"/>
              </a:rPr>
              <a:t/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주의: 보안·라이선스는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1">
                <a:solidFill>
                  <a:srgbClr val="C0392B"/>
                </a:solidFill>
                <a:latin typeface="Apple SD Gothic Neo"/>
              </a:rPr>
              <a:t>별도 법무·보안 검토 필요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(2/14)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3종 한눈에 보기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123444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1234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AI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417320"/>
            <a:ext cx="201168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1417320"/>
            <a:ext cx="2011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한 줄 포지션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9040" y="1417320"/>
            <a:ext cx="502920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0" y="1417320"/>
            <a:ext cx="50292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강점 (공식·참고)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417320"/>
            <a:ext cx="292608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0" y="1417320"/>
            <a:ext cx="29260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주의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86000"/>
            <a:ext cx="12344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020" y="228600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ChatGPT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7360" y="2286000"/>
            <a:ext cx="20116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75460" y="2286000"/>
            <a:ext cx="1935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만능형 올라운더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2286000"/>
            <a:ext cx="5029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87140" y="2286000"/>
            <a:ext cx="4953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추론·코딩·AgentKit·MCP·도구 생태계 최대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78240" y="2286000"/>
            <a:ext cx="29260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16340" y="2286000"/>
            <a:ext cx="2849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범용이라 업무별 최적은 다를 수 있음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154680"/>
            <a:ext cx="123444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020" y="315468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Gemini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37360" y="3154680"/>
            <a:ext cx="201168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75460" y="3154680"/>
            <a:ext cx="1935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Google 연동·긴 문서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49040" y="3154680"/>
            <a:ext cx="502920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87140" y="3154680"/>
            <a:ext cx="4953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3.5 Flash 에이전트·코딩·검색·멀티모달·속도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778240" y="3154680"/>
            <a:ext cx="292608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16340" y="3154680"/>
            <a:ext cx="2849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Google 생태계 의존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023360"/>
            <a:ext cx="12344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020" y="402336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Claude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37360" y="4023360"/>
            <a:ext cx="20116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75460" y="4023360"/>
            <a:ext cx="1935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코딩·장기 에이전트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49040" y="4023360"/>
            <a:ext cx="5029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87140" y="4023360"/>
            <a:ext cx="4953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Opus/Sonnet·1M 맥락·Claude Code·구조화 출력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78240" y="4023360"/>
            <a:ext cx="29260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16340" y="4023360"/>
            <a:ext cx="2849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창의·범용은 ChatGPT 대비 평가 분산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4572000"/>
            <a:ext cx="11201400" cy="137160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4709160"/>
            <a:ext cx="10789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9FC4E8"/>
                </a:solidFill>
                <a:latin typeface="Apple SD Gothic Neo"/>
              </a:rPr>
              <a:t>핵심 메시지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Apple SD Gothic Neo"/>
              </a:rPr>
              <a:t>세 AI 모두 '최고 하나'가 아니라, 업무 유형별로 맞는 도구가 다릅니다. 실무에서는 복수 도입·역할 분담도 흔합니다.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(3/14)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ChatGPT (OpenAI)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8640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76200" cy="2286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6FB2"/>
                </a:solidFill>
                <a:latin typeface="Apple SD Gothic Neo"/>
              </a:rPr>
              <a:t>공식 강점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7335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GPT-5.5: 복잡 추론·코딩용 플래그십 (맥락 약 100만 토큰)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3911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Responses API: 추론·도구·웹/파일 검색·Computer 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0487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AgentKit: 에이전트 설계·ChatKit·MCP·Evals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7063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이미지·음성 등 전용 모델 라인업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234440"/>
            <a:ext cx="553212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234440"/>
            <a:ext cx="76200" cy="22860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325880"/>
            <a:ext cx="5166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27E2E"/>
                </a:solidFill>
                <a:latin typeface="Apple SD Gothic Neo"/>
              </a:rPr>
              <a:t>사용자 평가 (참고)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67335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만능형: DevOps·인프라·프로토타입에 강점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3911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도구·플러그인 생태계가 가장 넓음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40487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엔터프라이즈 도입 사례·지원 체계 풍부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4903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42A4A"/>
                </a:solidFill>
                <a:latin typeface="Apple SD Gothic Neo"/>
              </a:rPr>
              <a:t>HW 예시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148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측정 자동화 스크립트 초안, CI/CD 로그 분석, 회의록·시험 보고서 초안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MCP로 사내 도구 연동 검토 시 후보 (보안 승인 후)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(4/14)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Gemini (Google)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8640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76200" cy="2286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6FB2"/>
                </a:solidFill>
                <a:latin typeface="Apple SD Gothic Neo"/>
              </a:rPr>
              <a:t>공식 강점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7335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Gemini 3.5 Flash: 에이전트·코딩·멀티모달 (2026.5 GA)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3911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Google Search·File Search·URL Context 그라운딩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0487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Managed Agents, Antigravity 개발 플랫폼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7063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100+ 페이지 문서 추론 사례 (금융 등)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234440"/>
            <a:ext cx="553212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234440"/>
            <a:ext cx="76200" cy="22860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325880"/>
            <a:ext cx="5166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27E2E"/>
                </a:solidFill>
                <a:latin typeface="Apple SD Gothic Neo"/>
              </a:rPr>
              <a:t>사용자 평가 (참고)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67335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긴 코드베이스·사양서 한 번에 분석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3911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검색·최신 정보·비용 효율 강점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40487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보안·논리 분석 맥락 이해 평가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4903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42A4A"/>
                </a:solidFill>
                <a:latin typeface="Apple SD Gothic Neo"/>
              </a:rPr>
              <a:t>HW 예시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148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센서·PMIC 데이터시트(수백 페이지)에서 설정값 찾기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스캔 PDF·회로도 캡처 OCR 후 텍스트 정리 (공식 OCR 사례)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(5/14)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Claude (Anthropic)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8640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76200" cy="2286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6FB2"/>
                </a:solidFill>
                <a:latin typeface="Apple SD Gothic Neo"/>
              </a:rPr>
              <a:t>공식 강점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7335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Opus 4.6/4.7, Sonnet 4.6: 복잡 추론·장기 에이전트 코딩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3911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맥락 최대 100만 토큰 (Opus/Sonnet 4.6)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0487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Claude Code, Agent SDK, Skills, 구조화 출력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7063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코드 실행·웹 검색·PDF 입력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234440"/>
            <a:ext cx="553212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234440"/>
            <a:ext cx="76200" cy="22860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325880"/>
            <a:ext cx="5166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27E2E"/>
                </a:solidFill>
                <a:latin typeface="Apple SD Gothic Neo"/>
              </a:rPr>
              <a:t>사용자 평가 (참고)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67335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프로덕션 코딩 품질·가독성 우위 평가 다수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3911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멀티파일 리팩터링·레거시 코드 이해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40487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규제·보안 민감 업무 선호 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4903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42A4A"/>
                </a:solidFill>
                <a:latin typeface="Apple SD Gothic Neo"/>
              </a:rPr>
              <a:t>HW 예시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148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I2C/SPI 드라이버·HAL 코드 초안, MISRA-C 스타일 점검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옛날 펌웨어 코드 설명·인수인계 문서 초안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(6/14)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기능 비교 매트릭스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71600"/>
            <a:ext cx="228600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371600"/>
            <a:ext cx="2286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항목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80" y="1371600"/>
            <a:ext cx="292608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97480" y="1371600"/>
            <a:ext cx="29260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ChatGPT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3560" y="1371600"/>
            <a:ext cx="292608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1371600"/>
            <a:ext cx="29260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Gemini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49640" y="1371600"/>
            <a:ext cx="292608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9640" y="1371600"/>
            <a:ext cx="29260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Claude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1901952"/>
            <a:ext cx="22860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580" y="1901952"/>
            <a:ext cx="2209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코딩·추론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97480" y="1901952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35580" y="1901952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23560" y="1901952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1660" y="1901952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49640" y="1901952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87740" y="1901952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432304"/>
            <a:ext cx="22860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9580" y="2432304"/>
            <a:ext cx="2209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에이전트·MCP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97480" y="2432304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35580" y="2432304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23560" y="2432304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1660" y="2432304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49640" y="2432304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87740" y="2432304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2962656"/>
            <a:ext cx="22860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9580" y="2962656"/>
            <a:ext cx="2209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긴 문서·맥락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97480" y="2962656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35580" y="2962656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23560" y="2962656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1660" y="2962656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549640" y="2962656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87740" y="2962656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3493008"/>
            <a:ext cx="22860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9580" y="3493008"/>
            <a:ext cx="2209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검색·최신정보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697480" y="3493008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35580" y="3493008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23560" y="3493008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1660" y="3493008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49640" y="3493008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87740" y="3493008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△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" y="4023360"/>
            <a:ext cx="22860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9580" y="4023360"/>
            <a:ext cx="2209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멀티모달·OCR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97480" y="4023360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35580" y="4023360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23560" y="4023360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61660" y="4023360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549640" y="4023360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587740" y="4023360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4553712"/>
            <a:ext cx="22860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9580" y="4553712"/>
            <a:ext cx="2209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Google 연동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697480" y="4553712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35580" y="4553712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△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623560" y="4553712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661660" y="4553712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549640" y="4553712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587740" y="4553712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△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1480" y="5084064"/>
            <a:ext cx="22860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49580" y="5084064"/>
            <a:ext cx="2209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코드 품질(참고)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697480" y="5084064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35580" y="5084064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23560" y="5084064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1660" y="5084064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549640" y="5084064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587740" y="5084064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920" y="58064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8A929E"/>
                </a:solidFill>
                <a:latin typeface="Apple SD Gothic Neo"/>
              </a:rPr>
              <a:t>◎ 강함  ○ 보통  △ 상대적 약함  |  '코드 품질'은 웹 사용기 참고, 공식 벤치 아님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유저 평가 기반 비교  (8/14)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Reddit · X · GitHub — 조사 방법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078992"/>
            <a:ext cx="5486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수집 범위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3035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Reddit: ChatGPT vs Claude vs Gemini 비교 스레드,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고득표 사용자 경험 글 (요약·인용 기사 포함)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600" b="0">
                <a:solidFill>
                  <a:srgbClr val="444A55"/>
                </a:solidFill>
                <a:latin typeface="Apple SD Gothic Neo"/>
              </a:rPr>
              <a:t/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X: 개발자·빌더 커뮤니티, 2025~26 Claude 전환 논의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600" b="0">
                <a:solidFill>
                  <a:srgbClr val="444A55"/>
                </a:solidFill>
                <a:latin typeface="Apple SD Gothic Neo"/>
              </a:rPr>
              <a:t/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GitHub: Gist 비교, claude-vs-codex 리포,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openai/codex Discussions, 비교 문서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234440"/>
            <a:ext cx="5532120" cy="2377440"/>
          </a:xfrm>
          <a:prstGeom prst="roundRect">
            <a:avLst/>
          </a:prstGeom>
          <a:solidFill>
            <a:srgbClr val="FEF1E6"/>
          </a:solidFill>
          <a:ln w="1524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371600"/>
            <a:ext cx="516636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F27E2E"/>
                </a:solidFill>
                <a:latin typeface="Apple SD Gothic Neo"/>
              </a:rPr>
              <a:t>주의 (한계)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· API로 전체 수집한 것이 아님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· 개인 경험·버전·요금제에 따라 다름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· 홍보·제휴 글 혼재 가능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" b="0">
                <a:solidFill>
                  <a:srgbClr val="444A55"/>
                </a:solidFill>
                <a:latin typeface="Apple SD Gothic Neo"/>
              </a:rPr>
              <a:t/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C0392B"/>
                </a:solidFill>
                <a:latin typeface="Apple SD Gothic Neo"/>
              </a:rPr>
              <a:t>→ '반복되는 패턴'만 정리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840480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3822192"/>
            <a:ext cx="109728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유저들이 공통으로 말하는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51960"/>
            <a:ext cx="10972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1">
                <a:solidFill>
                  <a:srgbClr val="142A4A"/>
                </a:solidFill>
                <a:latin typeface="Apple SD Gothic Neo"/>
              </a:rPr>
              <a:t>• '최고 하나'보다 업무별로 여러 AI를 스택으로 쓴다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공식 벤치보다 '매일 쓸 때 한도·속도·실수'가 더 중요하다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코딩은 Claude, 긴 문서·Google 업무는 Gemini, 만능·음성은 ChatGPT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유저 평가 기반 비교  (9/14)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플랫폼별에서 들리는 목소리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1371600" cy="77724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3716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플랫폼</a:t>
            </a:r>
          </a:p>
        </p:txBody>
      </p:sp>
      <p:sp>
        <p:nvSpPr>
          <p:cNvPr id="8" name="Rectangle 7"/>
          <p:cNvSpPr/>
          <p:nvPr/>
        </p:nvSpPr>
        <p:spPr>
          <a:xfrm>
            <a:off x="1874520" y="1371600"/>
            <a:ext cx="3200400" cy="77724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74520" y="1371600"/>
            <a:ext cx="3200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ChatGPT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74920" y="1371600"/>
            <a:ext cx="3200400" cy="77724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4920" y="1371600"/>
            <a:ext cx="3200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Gemini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75320" y="1371600"/>
            <a:ext cx="3429000" cy="77724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371600"/>
            <a:ext cx="34290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Claude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48840"/>
            <a:ext cx="13716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020" y="2148840"/>
            <a:ext cx="1295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Reddit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74520" y="2148840"/>
            <a:ext cx="32004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12620" y="2148840"/>
            <a:ext cx="3124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만능 칼: 음성·이미지·검색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74920" y="2148840"/>
            <a:ext cx="32004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13020" y="2148840"/>
            <a:ext cx="3124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Google 앱 통합 편함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75320" y="2148840"/>
            <a:ext cx="34290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13420" y="2148840"/>
            <a:ext cx="335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글·코드 품질, 한도 불만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926080"/>
            <a:ext cx="1371600" cy="7772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020" y="2926080"/>
            <a:ext cx="1295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X·개발자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74520" y="2926080"/>
            <a:ext cx="3200400" cy="7772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12620" y="2926080"/>
            <a:ext cx="3124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Codex 속도·위임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74920" y="2926080"/>
            <a:ext cx="3200400" cy="7772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13020" y="2926080"/>
            <a:ext cx="3124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Workspace·긴 문서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75320" y="2926080"/>
            <a:ext cx="3429000" cy="7772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13420" y="2926080"/>
            <a:ext cx="335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빌더층 이동·Claude Code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703320"/>
            <a:ext cx="13716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020" y="3703320"/>
            <a:ext cx="1295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GitHub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74520" y="3703320"/>
            <a:ext cx="32004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12620" y="3703320"/>
            <a:ext cx="3124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Codex 샌드박스·비용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74920" y="3703320"/>
            <a:ext cx="32004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13020" y="3703320"/>
            <a:ext cx="3124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무료 티어 보완용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5320" y="3703320"/>
            <a:ext cx="34290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13420" y="3703320"/>
            <a:ext cx="335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hooks·plugins·코드 품질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4114800"/>
            <a:ext cx="11201400" cy="201168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4251960"/>
            <a:ext cx="107899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>
                <a:solidFill>
                  <a:srgbClr val="1F6FB2"/>
                </a:solidFill>
                <a:latin typeface="Apple SD Gothic Neo"/>
              </a:rPr>
              <a:t>대표 인용 패턴 (참고)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ChatGPT: "Swiss army knife" — 빠르고 넓지만 프로덕션 코드는 Claude가 낫다는 의견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Gemini: "검색 레이어" vs "긴 문서는 최고" — 코딩은 평가 갈림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Claude: "scalpel" — 멀티파일·리팩터링 호평, 느리고 한도 걸린다는 불만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유저 평가 기반 비교  (10/14)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업무별 유저 평가 (HW 관점)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53312"/>
            <a:ext cx="2011680" cy="56692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53312"/>
            <a:ext cx="20116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업무</a:t>
            </a:r>
          </a:p>
        </p:txBody>
      </p:sp>
      <p:sp>
        <p:nvSpPr>
          <p:cNvPr id="8" name="Rectangle 7"/>
          <p:cNvSpPr/>
          <p:nvPr/>
        </p:nvSpPr>
        <p:spPr>
          <a:xfrm>
            <a:off x="2514600" y="1353312"/>
            <a:ext cx="2926080" cy="56692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14600" y="1353312"/>
            <a:ext cx="29260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ChatGPT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353312"/>
            <a:ext cx="2926080" cy="56692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1353312"/>
            <a:ext cx="29260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Gemini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1353312"/>
            <a:ext cx="3246120" cy="56692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353312"/>
            <a:ext cx="3246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Claude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920240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020" y="1920240"/>
            <a:ext cx="1935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코딩 품질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14600" y="1920240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52700" y="1920240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빠른 초안·Codex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40680" y="1920240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78780" y="1920240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repo 통째·속도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66760" y="1920240"/>
            <a:ext cx="32461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04860" y="1920240"/>
            <a:ext cx="316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가독성·멀티파일 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487168"/>
            <a:ext cx="20116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020" y="2487168"/>
            <a:ext cx="1935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디버깅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14600" y="2487168"/>
            <a:ext cx="29260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52700" y="2487168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빠른 수정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40680" y="2487168"/>
            <a:ext cx="29260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78780" y="2487168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보안·맥락 설명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66760" y="2487168"/>
            <a:ext cx="324612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04860" y="2487168"/>
            <a:ext cx="316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원인 설명 ◎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054096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020" y="3054096"/>
            <a:ext cx="1935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긴 데이터시트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14600" y="3054096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52700" y="3054096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보통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40680" y="3054096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78780" y="3054096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긴 PDF ◎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66760" y="3054096"/>
            <a:ext cx="32461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04860" y="3054096"/>
            <a:ext cx="316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긴 글·구조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3621024"/>
            <a:ext cx="20116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1020" y="3621024"/>
            <a:ext cx="1935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에이전트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14600" y="3621024"/>
            <a:ext cx="29260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52700" y="3621024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Codex PR·AgentKit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40680" y="3621024"/>
            <a:ext cx="29260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78780" y="3621024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Antigravity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66760" y="3621024"/>
            <a:ext cx="324612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04860" y="3621024"/>
            <a:ext cx="316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Claude Code ◎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87952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020" y="4187952"/>
            <a:ext cx="1935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일상·멀티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4600" y="4187952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52700" y="4187952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음성·이미지 ◎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40680" y="4187952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78780" y="4187952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Android·Google ◎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66760" y="4187952"/>
            <a:ext cx="32461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04860" y="4187952"/>
            <a:ext cx="316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앱에서는 약함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" y="4617720"/>
            <a:ext cx="11201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8A929E"/>
                </a:solidFill>
                <a:latin typeface="Apple SD Gothic Neo"/>
              </a:rPr>
              <a:t>◎ = 유저 후기에서 상대적 강점으로 자주 언급 (공식 벤치 아님)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2920" y="5074920"/>
            <a:ext cx="11201400" cy="123444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1520" y="5212080"/>
            <a:ext cx="107899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9FC4E8"/>
                </a:solidFill>
                <a:latin typeface="Apple SD Gothic Neo"/>
              </a:rPr>
              <a:t>유저 추천 스택 (참고)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pple SD Gothic Neo"/>
              </a:rPr>
              <a:t>Claude Code(코딩) + Gemini(긴 사양서·OCR) + ChatGPT(만능·음성·빠른 질문)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pple SD Gothic Neo"/>
              </a:rPr>
              <a:t>HW팀 PoC: 업무별로 2주씩 써 보고 한도·속도·실수율을 직접 측정 권장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유저 평가 기반 비교  (11/14)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공식 소개 vs 유저 평가 — 차이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123444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234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AI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371600"/>
            <a:ext cx="475488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1371600"/>
            <a:ext cx="4754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공식이 말하는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1371600"/>
            <a:ext cx="521208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371600"/>
            <a:ext cx="52120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유저가 추가로 말하는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240280"/>
            <a:ext cx="12344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1020" y="224028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ChatGPT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37360" y="2240280"/>
            <a:ext cx="47548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75460" y="2240280"/>
            <a:ext cx="467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GPT-5.x, AgentKit, 생태계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2240280"/>
            <a:ext cx="52120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0340" y="2240280"/>
            <a:ext cx="5135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만능·Codex 빠름, 한도·품질 변동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08960"/>
            <a:ext cx="123444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020" y="310896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Gemini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37360" y="3108960"/>
            <a:ext cx="475488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75460" y="3108960"/>
            <a:ext cx="467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3.5 Flash 벤치, Google 연동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3108960"/>
            <a:ext cx="521208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0340" y="3108960"/>
            <a:ext cx="5135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Workspace 편함, 코딩은 기대↓ 의견도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977640"/>
            <a:ext cx="12344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1020" y="397764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Claude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37360" y="3977640"/>
            <a:ext cx="47548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775460" y="3977640"/>
            <a:ext cx="467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Opus/Sonnet, 1M, Claude Code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40" y="3977640"/>
            <a:ext cx="52120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0340" y="3977640"/>
            <a:ext cx="5135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코드 1위 인상, 한도·속도 병목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709160"/>
            <a:ext cx="11201400" cy="1600200"/>
          </a:xfrm>
          <a:prstGeom prst="roundRect">
            <a:avLst/>
          </a:prstGeom>
          <a:solidFill>
            <a:srgbClr val="FEF1E6"/>
          </a:solidFill>
          <a:ln w="1524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846320"/>
            <a:ext cx="10789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27E2E"/>
                </a:solidFill>
                <a:latin typeface="Apple SD Gothic Neo"/>
              </a:rPr>
              <a:t>도입 시 체크리스트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1. 공식 문서로 '기능이 되는지' 확인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2. 유저 후기로 '매일 쓸 때 불편한지' PoC에서 확인 (한도·속도·코드 검증)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3. 사내 Gauss와 역할 분리 — 외부는 보안 승인 후 고급 보조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(12/14)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HW 개발팀 적용 및 선택 가이드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2560320" cy="50292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25603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업무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371600"/>
            <a:ext cx="2286000" cy="50292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3240" y="1371600"/>
            <a:ext cx="2286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우선 검토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49240" y="1371600"/>
            <a:ext cx="6355080" cy="50292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1371600"/>
            <a:ext cx="63550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이유 (쉬운 말)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74520"/>
            <a:ext cx="25603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1020" y="187452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펌웨어·드라이버 초안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63240" y="1874520"/>
            <a:ext cx="2286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01340" y="187452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Claude, ChatGPT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49240" y="1874520"/>
            <a:ext cx="63550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340" y="187452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코드 구조·주석 품질 평가 높음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377440"/>
            <a:ext cx="256032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020" y="237744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긴 데이터시트 요약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63240" y="2377440"/>
            <a:ext cx="228600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01340" y="237744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Gemini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49240" y="2377440"/>
            <a:ext cx="635508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87340" y="237744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긴 문서·검색이 공식 강점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880360"/>
            <a:ext cx="25603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1020" y="288036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측정 로그·표 정리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63240" y="2880360"/>
            <a:ext cx="2286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01340" y="288036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3종 모두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49240" y="2880360"/>
            <a:ext cx="63550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87340" y="288036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반복 정리는 모두 활용 가능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383280"/>
            <a:ext cx="256032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020" y="338328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스캔 PDF·회로도 OCR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63240" y="3383280"/>
            <a:ext cx="228600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1340" y="338328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Gemini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49240" y="3383280"/>
            <a:ext cx="635508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87340" y="338328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문서·이미지 추론 공식 사례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886200"/>
            <a:ext cx="25603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1020" y="388620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다단계 자동화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63240" y="3886200"/>
            <a:ext cx="2286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01340" y="388620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ChatGPT, Claude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49240" y="3886200"/>
            <a:ext cx="63550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87340" y="388620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AgentKit / Claude Code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389120"/>
            <a:ext cx="256032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1020" y="438912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최종 회로·양산 판단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063240" y="4389120"/>
            <a:ext cx="228600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101340" y="438912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사람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349240" y="4389120"/>
            <a:ext cx="635508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87340" y="438912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AI는 보조, 실측 필수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02920" y="4892040"/>
            <a:ext cx="11201400" cy="123444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5029200"/>
            <a:ext cx="107899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1F6FB2"/>
                </a:solidFill>
                <a:latin typeface="Apple SD Gothic Neo"/>
              </a:rPr>
              <a:t>선택 가이드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코딩 중심 → Claude  |  긴 사양서·검색 → Gemini  |  범용·도구 연결 → ChatGPT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복수 도입·역할 분담 권장 (예: Claude 코딩 + Gemini 문서)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(13/14)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결론 및 제언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325880"/>
            <a:ext cx="3611880" cy="29260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3611880" cy="50292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25880"/>
            <a:ext cx="3611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pple SD Gothic Neo"/>
              </a:rPr>
              <a:t>당장 PoC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코드·문서 초안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688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측정 데이터 정리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260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로그 분석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832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반복 업무 자동화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1325880"/>
            <a:ext cx="3611880" cy="29260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34840" y="1325880"/>
            <a:ext cx="3611880" cy="502920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1325880"/>
            <a:ext cx="3611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pple SD Gothic Neo"/>
              </a:rPr>
              <a:t>신중 적용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0116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회로·부품 최종 판단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4688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불량 원인 확정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260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양산 영향 평가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75320" y="1325880"/>
            <a:ext cx="3611880" cy="29260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75320" y="1325880"/>
            <a:ext cx="3611880" cy="50292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1325880"/>
            <a:ext cx="3611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pple SD Gothic Neo"/>
              </a:rPr>
              <a:t>개선·검토 과제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20116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보안·법무 승인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24688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사내 Gauss와 역할 분리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29260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팀 공통 가이드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33832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도구별 라이선스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4526280"/>
            <a:ext cx="11018520" cy="141732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663440"/>
            <a:ext cx="105156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500" b="1">
                <a:solidFill>
                  <a:srgbClr val="9FC4E8"/>
                </a:solidFill>
                <a:latin typeface="Apple SD Gothic Neo"/>
              </a:rPr>
              <a:t>최종 결론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Apple SD Gothic Neo"/>
              </a:rPr>
              <a:t>외부 AI는 사내 Gauss를 대체하기보다, 보안 검토 후 '고급 보조'로 쓰는 것이 현실적입니다.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Apple SD Gothic Neo"/>
              </a:rPr>
              <a:t>6월 도입 전: 업무별 PoC 1~2건 선정 → 효과·보안 측정 → 팀 표준 가이드화를 제안합니다.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(14/14)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출처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05840" cy="384048"/>
          </a:xfrm>
          <a:prstGeom prst="round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공식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41732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OpenAI / Google Gemini / Anthropic Claude 문서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2024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2024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Reddit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192024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Foxafox Reddit 요약, DreamHost Reddit 인용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2316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42316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GitHub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42316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Haseeb Qureshi Gist, rohittcodes/claude-vs-codex, codex Discussions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92608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92608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X·참고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292608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Vapvarun, CatDoes, Ken Imoto, TechTide, Playcode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42900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42900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문서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42900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외부AI_3종_비교조사.md + 유저평가_비교조사.md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0292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8A929E"/>
                </a:solidFill>
                <a:latin typeface="Apple SD Gothic Neo"/>
              </a:rPr>
              <a:t>상세 URL은 동봉 마크다운 '외부AI_3종_비교조사.md' 참조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8A929E"/>
                </a:solidFill>
                <a:latin typeface="Apple SD Gothic Neo"/>
              </a:rPr>
              <a:t>모델명·기능은 도입 시점에 공식 페이지에서 재확인 필요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