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566160"/>
            <a:ext cx="12191695" cy="508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Apple SD Gothic Neo"/>
              </a:rPr>
              <a:t>외부 AI 3종 비교 조사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9FC4E8"/>
                </a:solidFill>
                <a:latin typeface="Apple SD Gothic Neo"/>
              </a:rPr>
              <a:t>ChatGPT  ·  Gemini  · 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>
                <a:solidFill>
                  <a:srgbClr val="C9D8EA"/>
                </a:solidFill>
                <a:latin typeface="Apple SD Gothic Neo"/>
              </a:rPr>
              <a:t>NC HW 개발팀  |  2026년 6월 외부 AI 도입 검토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8A929E"/>
                </a:solidFill>
                <a:latin typeface="Apple SD Gothic Neo"/>
              </a:rPr>
              <a:t>공식 문서 및 웹 사용자 평가 교차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평가 대상 및 평가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12471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평가 대상 (3종)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72768"/>
            <a:ext cx="5349240" cy="603504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72768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572768"/>
            <a:ext cx="3749039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OpenAI · GPT-5.x · 범용 / 에이전트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5349240" cy="603504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Gemini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286000"/>
            <a:ext cx="3749039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Google · 3.5 Flash · 장문 / 멀티모달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99232"/>
            <a:ext cx="5349240" cy="603504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999232"/>
            <a:ext cx="137160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Claude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999232"/>
            <a:ext cx="3749039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Anthropic · Opus/Sonnet · 코딩 / 장기 에이전트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114300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112471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평가 기준 (6개 항목)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554480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1554480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생산성 (코딩·추론)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1993392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993392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에이전트 (다단계 자동화)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55080" y="2432304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2432304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문서·지식 (장문·검색·OCR)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2871216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2871216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멀티모달 (이미지·PDF)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3310128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3310128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엔터프라이즈 (관리·보안·연동)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3749040"/>
            <a:ext cx="5349240" cy="384048"/>
          </a:xfrm>
          <a:prstGeom prst="roundRect">
            <a:avLst/>
          </a:prstGeom>
          <a:solidFill>
            <a:srgbClr val="E8F1FA"/>
          </a:solidFill>
          <a:ln w="1016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3749040"/>
            <a:ext cx="5029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비용·속도 (API·사용 한도)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315968"/>
            <a:ext cx="11247120" cy="160020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443984"/>
            <a:ext cx="10835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조사 방법 및 유의사항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1차: 각 사 공식 문서  /  2차: 웹 사용자 평가·비교 리뷰 (참고로 표기)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· 보안·라이선스는 별도 법무·보안 검토가 필요하며, 본 자료는 도입 검토용 참고 자료임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(2/17)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LLM 3종 비교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1732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417320"/>
            <a:ext cx="2011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포지션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417320"/>
            <a:ext cx="50292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강점 (공식·참고)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1417320"/>
            <a:ext cx="2926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유의점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8600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228600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28600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75460" y="228600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범용 올라운더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28600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87140" y="228600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추론·코딩·AgentKit·MCP·도구 생태계 최대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228600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6340" y="228600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범용형으로 업무별 최적 모델은 상이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5468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31546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3154680"/>
            <a:ext cx="20116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75460" y="315468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연동·장문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49040" y="3154680"/>
            <a:ext cx="502920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87140" y="315468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3.5 Flash 에이전트·코딩·검색·멀티모달·속도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240" y="3154680"/>
            <a:ext cx="2926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16340" y="315468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생태계 의존도 높음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02336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40233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737360" y="4023360"/>
            <a:ext cx="20116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75460" y="4023360"/>
            <a:ext cx="19354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코딩·장기 에이전트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40" y="4023360"/>
            <a:ext cx="5029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7140" y="4023360"/>
            <a:ext cx="4953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Opus/Sonnet·1M 맥락·Claude Code·구조화 출력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4023360"/>
            <a:ext cx="2926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16340" y="4023360"/>
            <a:ext cx="2849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창의·범용은 ChatGPT 대비 평가 분산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74920"/>
            <a:ext cx="11201400" cy="123444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193792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핵심 시사점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Apple SD Gothic Neo"/>
              </a:rPr>
              <a:t>단일 최우수 모델은 없으며, 업무 유형별 적합 모델이 상이합니다. 실무에서는 복수 도입·역할 분담이 일반적입니다.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(3/17)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ChatGPT (OpenAI)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GPT-5.5: 복잡 추론·코딩용 플래그십 (맥락 약 100만 토큰)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Responses API: 추론·도구·웹/파일 검색·Computer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AgentKit: 에이전트 설계·ChatKit·MCP·Evals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이미지·음성 등 전용 모델 라인업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만능형: DevOps·인프라·프로토타입에 강점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도구·플러그인 생태계가 가장 넓음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엔터프라이즈 도입 사례·지원 체계 풍부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개발 활용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측정 자동화 스크립트 초안, CI/CD 로그 분석, 회의록·시험 보고서 초안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MCP로 사내 도구 연동 검토 시 후보 (보안 승인 후)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(4/17)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Gemini (Google)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Gemini 3.5 Flash: 에이전트·코딩·멀티모달 (2026.5 GA)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Google Search·File Search·URL Context 그라운딩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Managed Agents, Antigravity 개발 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100+ 페이지 문서 추론 사례 (금융 등)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긴 코드베이스·사양서 한 번에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검색·최신 정보·비용 효율 강점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보안·논리 분석 맥락 이해 평가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개발 활용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센서·PMIC 데이터시트(수백 페이지)에서 설정값 찾기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스캔 PDF·회로도 캡처 OCR 후 텍스트 정리 (공식 OCR 사례)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(5/17)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Claude (Anthropic)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48640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6200" cy="2286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공식 강점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Opus 4.6/4.7, Sonnet 4.6: 복잡 추론·장기 에이전트 코딩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3911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맥락 최대 100만 토큰 (Opus/Sonnet 4.6)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 Code, Agent SDK, Skills, 구조화 출력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0749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코드 실행·웹 검색·PDF 입력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234440"/>
            <a:ext cx="5532120" cy="2286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34440"/>
            <a:ext cx="76200" cy="22860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325880"/>
            <a:ext cx="5166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사용자 평가 (참고)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7335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프로덕션 코딩 품질·가독성 우위 평가 다수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3911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멀티파일 리팩터링·레거시 코드 이해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04872"/>
            <a:ext cx="51206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규제·보안 민감 업무 선호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490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42A4A"/>
                </a:solidFill>
                <a:latin typeface="Apple SD Gothic Neo"/>
              </a:rPr>
              <a:t>HW 개발 활용 예시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I2C/SPI 드라이버·HAL 코드 초안, MISRA-C 스타일 점검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옛날 펌웨어 코드 설명·인수인계 문서 초안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(6/17)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기능 비교 매트릭스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371600"/>
            <a:ext cx="365760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371600"/>
            <a:ext cx="3657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평가 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4069080" y="1371600"/>
            <a:ext cx="25603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69080" y="1371600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0" y="1371600"/>
            <a:ext cx="25603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1371600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20" y="1371600"/>
            <a:ext cx="25603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9720" y="1371600"/>
            <a:ext cx="25603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938528"/>
            <a:ext cx="3657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80" y="1938528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생산성 (코딩·추론)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80" y="1938528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07180" y="193852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29400" y="1938528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193852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938528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27820" y="193852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505456"/>
            <a:ext cx="365760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9580" y="2505456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에이전트 (다단계 자동화)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69080" y="2505456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07180" y="2505456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29400" y="2505456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67500" y="2505456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89720" y="2505456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27820" y="2505456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072384"/>
            <a:ext cx="3657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9580" y="3072384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문서·지식 (장문·검색·OCR)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69080" y="3072384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07180" y="3072384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29400" y="3072384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67500" y="3072384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89720" y="3072384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27820" y="3072384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639312"/>
            <a:ext cx="365760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9580" y="3639312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멀티모달 (이미지·PDF)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69080" y="3639312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07180" y="3639312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29400" y="3639312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67500" y="3639312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89720" y="3639312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27820" y="3639312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206240"/>
            <a:ext cx="3657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9580" y="4206240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엔터프라이즈 (관리·보안·연동)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069080" y="4206240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07180" y="4206240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29400" y="4206240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67500" y="4206240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89720" y="4206240"/>
            <a:ext cx="25603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27820" y="4206240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773168"/>
            <a:ext cx="365760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9580" y="4773168"/>
            <a:ext cx="3581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비용·속도 (API·사용 한도)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69080" y="4773168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07180" y="477316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29400" y="4773168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67500" y="477316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◎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89720" y="4773168"/>
            <a:ext cx="25603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27820" y="4773168"/>
            <a:ext cx="2484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0" y="5532120"/>
            <a:ext cx="11338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강함   ○ 보통   △ 상대적 약함   |   공식 자료 및 사용자 평가 종합 (정량 벤치마크 아님)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(7/17)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Reddit · X · GitHub · Slack · Discord — 조사 방법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078992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수집 범위 (5개 채널)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3035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Reddit: 비교·불만 스레드, 고득표(수천 upvotes) 글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X: 개발자·빌더 커뮤니티, 2025~26 Claude 전환 논의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GitHub: Gist·claude-vs-codex 리포, 공식 Issues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Slack: 팀 협업·요약·엔터프라이즈 연동 사용기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Discord: 코딩 커뮤니티 서버·원격 제어·설문 배포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234440"/>
            <a:ext cx="5532120" cy="237744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166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F27E2E"/>
                </a:solidFill>
                <a:latin typeface="Apple SD Gothic Neo"/>
              </a:rPr>
              <a:t>조사 한계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API 기반 전수 수집이 아님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개인 경험·버전·요금제에 따라 상이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· 홍보·제휴성 게시물 혼재 가능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6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C0392B"/>
                </a:solidFill>
                <a:latin typeface="Apple SD Gothic Neo"/>
              </a:rPr>
              <a:t>→ 반복되는 평가 패턴 중심으로 정리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40480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822192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사용자 공통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10972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>
                <a:solidFill>
                  <a:srgbClr val="142A4A"/>
                </a:solidFill>
                <a:latin typeface="Apple SD Gothic Neo"/>
              </a:rPr>
              <a:t>• 단일 모델보다 업무별 복수 LLM 병행 사용이 일반적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공식 벤치마크보다 실사용 시 사용 한도·속도·오류가 더 중요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• 코딩은 Claude, 장문 문서·Google 연동은 Gemini, 범용·음성은 ChatGPT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(8/17)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플랫폼별 사용자 평가 요약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3716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371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플랫폼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20" y="1280160"/>
            <a:ext cx="32004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74520" y="12801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1280160"/>
            <a:ext cx="32004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280160"/>
            <a:ext cx="3200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280160"/>
            <a:ext cx="3429000" cy="54864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280160"/>
            <a:ext cx="3429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82880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82880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Reddit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20" y="18288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12620" y="182880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만능 칼: 음성·이미지·검색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182880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3020" y="182880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Google 앱 통합 편함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182880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13420" y="182880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글·코드 품질, 한도 불만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77440"/>
            <a:ext cx="13716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37744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X·개발자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20" y="237744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12620" y="237744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속도·위임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237744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13020" y="237744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Workspace·긴 문서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2377440"/>
            <a:ext cx="34290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3420" y="237744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빌더층 이동·Claude Code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92608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292608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GitHub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20" y="292608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12620" y="292608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샌드박스·비용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4920" y="292608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13020" y="292608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무료 티어 보완용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292608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13420" y="292608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hooks·plugins·코드 품질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474720"/>
            <a:ext cx="13716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47472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Slack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20" y="347472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912620" y="347472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RAG 연결 비서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74920" y="3474720"/>
            <a:ext cx="32004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13020" y="347472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Workspace·Meet 요약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3474720"/>
            <a:ext cx="3429000" cy="54864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13420" y="347472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문서·정책 분석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023360"/>
            <a:ext cx="1371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023360"/>
            <a:ext cx="1295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Discord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20" y="40233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912620" y="402336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질문·이미지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74920" y="40233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13020" y="4023360"/>
            <a:ext cx="3124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설문·토론 활발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75320" y="4023360"/>
            <a:ext cx="34290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13420" y="4023360"/>
            <a:ext cx="335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MCP 원격 코딩 제어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4681728"/>
            <a:ext cx="11201400" cy="155448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791456"/>
            <a:ext cx="107899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대표 인용 패턴 (참고)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ChatGPT: "Swiss army knife" — 빠르고 넓지만 프로덕션 코드는 Claude가 낫다는 의견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Gemini: "검색 레이어" vs "긴 문서는 최고" — 코딩은 평가 갈림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Claude: "scalpel" — 멀티파일·리팩터링 호평, 느리고 한도 걸린다는 불만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(9/17)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커뮤니티 사용자 평가 (Reddit·X·GitHub·Slack·Discord)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463040" cy="62179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4630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커뮤니티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1234440"/>
            <a:ext cx="9738360" cy="62179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1234440"/>
            <a:ext cx="97383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대표 사용기 · 인용 패턴 (참고)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56232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300" y="1856232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Reddit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1856232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58340" y="1856232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"만능 칼(ChatGPT) vs 정밀 메스(Claude)"; GPT-5 '답 짧다' 불만 4,600+ upvotes; Claude 한도 불만 최다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478024"/>
            <a:ext cx="146304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300" y="2478024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X·개발자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20240" y="2478024"/>
            <a:ext cx="973836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58340" y="2478024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2025~26 빌더·개발자층 Claude 이동; Codex(속도·비용·위임) vs Claude Code(코드 품질) 논쟁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99816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3099816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GitHub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20240" y="3099816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58340" y="3099816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Gist 비교: Claude 확장성·맥락 / Codex 샌드박스 보안; claude-code·gemini-cli Issues에 한도·자율과잉 불만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21608"/>
            <a:ext cx="146304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300" y="3721608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Slack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20240" y="3721608"/>
            <a:ext cx="9738360" cy="62179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58340" y="3721608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Slack AI: 스레드 요약·액션아이템; ChatGPT를 RAG '프론트도어 비서'로; 'Slack → 작업 자동화' 비교 기준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300" y="4343400"/>
            <a:ext cx="13868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Discord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20240" y="4343400"/>
            <a:ext cx="97383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58340" y="4343400"/>
            <a:ext cx="966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Claude Code를 MCP로 원격 제어(폰으로 코딩 지시·수신); 도구 비교·개발자 설문 토론 활발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102352"/>
            <a:ext cx="11247120" cy="111556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202936"/>
            <a:ext cx="10835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1">
                <a:solidFill>
                  <a:srgbClr val="9FC4E8"/>
                </a:solidFill>
                <a:latin typeface="Apple SD Gothic Neo"/>
              </a:rPr>
              <a:t>HW 개발 시사점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공통 결론: 단일 모델이 아닌 업무별 병행 사용 — Reddit·X·GitHub 모두 도구 병행을 권장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팀 활용은 Slack 요약부터, Discord·MCP 원격 제어는 사내 보안 검토 후 적용 (외부 연동 주의)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(10/17)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정량 데이터 (제3자 설문·통계, 참고)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27432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27432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325880"/>
            <a:ext cx="640080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325880"/>
            <a:ext cx="64008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수치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0" y="1325880"/>
            <a:ext cx="2103120" cy="530352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0" y="1325880"/>
            <a:ext cx="21031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56232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" y="1856232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'가장 사랑하는' 코딩툴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856232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38500" y="1856232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46% · Cursor 19% · Copilot 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1856232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39300" y="1856232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JetBrains'26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86584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300" y="2386584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1차 사용 도구 점유율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2386584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38500" y="2386584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28% · Cursor 24% · Copilot 17% · Codex 11%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01200" y="2386584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39300" y="2386584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digitalapplied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916936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300" y="2916936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전체 사용(any-use)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0" y="2916936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38500" y="2916936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Copilot 58% · Claude Code 54% · Cursor 49%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916936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39300" y="2916936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digitalapplied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47288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" y="3447288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멀티툴 동시 사용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0" y="3447288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38500" y="3447288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개발자 70~73%가 2개 이상 사용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3447288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39300" y="3447288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Awesome/Ivern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77640"/>
            <a:ext cx="27432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300" y="3977640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멀티에이전트 시간 절감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3977640"/>
            <a:ext cx="640080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38500" y="3977640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11.4h/주 (단일툴 5.2h)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3977640"/>
            <a:ext cx="210312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39300" y="3977640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Ivern 312명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507992"/>
            <a:ext cx="27432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5300" y="4507992"/>
            <a:ext cx="26670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AI 도입 vs 신뢰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0" y="4507992"/>
            <a:ext cx="640080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38500" y="4507992"/>
            <a:ext cx="6324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도입 84% · 신뢰 29% (전년比 -11p)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01200" y="4507992"/>
            <a:ext cx="2103120" cy="530352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39300" y="4507992"/>
            <a:ext cx="2026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Stack Overflow'25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166360"/>
            <a:ext cx="11247120" cy="105156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266944"/>
            <a:ext cx="107899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해석 시 유의사항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표본·방법이 상이한 제3자 설문이므로 '순위'보다 '경향'으로 해석. </a:t>
            </a:r>
          </a:p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C0392B"/>
                </a:solidFill>
                <a:latin typeface="Apple SD Gothic Neo"/>
              </a:rPr>
              <a:t>'GPT-5 horrible' 4,600 upvotes, 해지 1.5M 등 언론 인용 수치는 공식 미검증.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(11/17)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LLM별 주요 제약 및 불만 사항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80160"/>
            <a:ext cx="370332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76200" cy="32918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371600"/>
            <a:ext cx="3337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6FB2"/>
                </a:solidFill>
                <a:latin typeface="Apple SD Gothic Neo"/>
              </a:rP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190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GPT-5 전환 후 '답 짧음·개성↓·다단계 추론↓' 대규모 불만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8483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Plus 사용 한도(주당 thinking 메시지) 체감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505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피크시간 품질 변동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안전필터 과도한 거절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280160"/>
            <a:ext cx="370332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280160"/>
            <a:ext cx="76200" cy="329184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371600"/>
            <a:ext cx="3337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F27E2E"/>
                </a:solidFill>
                <a:latin typeface="Apple SD Gothic Neo"/>
              </a:rPr>
              <a:t>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171907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'코드 바꾸지 말고 분석만' 지시 무시 등 지시 불이행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08483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자율 과잉: 340파일 변경·28,745줄 삭제 + 허위 점검 로그 사건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45059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멀티스텝에서 워크플로 상태 상실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816352"/>
            <a:ext cx="329184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소비자용 UX(파일 생성·검색 제어 제약)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1280160"/>
            <a:ext cx="3657600" cy="329184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2440" y="1280160"/>
            <a:ext cx="76200" cy="3291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13716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C0392B"/>
                </a:solidFill>
                <a:latin typeface="Apple SD Gothic Neo"/>
              </a:rPr>
              <a:t>Claude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171907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Rate limit 최대 불만: 주간 캡 1~2일 소진·경고 없이 차단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08483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8개 사용량 버킷 중 하나만 100%여도 throttle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45059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claude.ai·Code·Design 한도 통합 → 한 곳 쓰면 다른 곳↓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816352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상대적으로 느리고 비쌈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800600"/>
            <a:ext cx="11338560" cy="13258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800600"/>
            <a:ext cx="10698480" cy="1325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HW 개발 시사점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사내 Gauss(분당 3~4회 제한)처럼, 외부 LLM도 사용 한도가 실무 병목 요인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PoC 단계에서 사용 한도·응답 속도·코드 오류율을 정량 측정 권장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(12/17)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업무별 사용자 평가 (HW 개발 관점)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20116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1353312"/>
            <a:ext cx="29260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353312"/>
            <a:ext cx="32461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920240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020" y="1920240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코딩 품질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270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초안·Codex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192024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78780" y="1920240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repo 통째·속도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66760" y="1920240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4860" y="1920240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가독성·멀티파일 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487168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020" y="2487168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디버깅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270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빠른 수정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2487168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78780" y="2487168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보안·맥락 설명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66760" y="2487168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04860" y="2487168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원인 설명 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054096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054096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데이터시트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460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5270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보통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305409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78780" y="3054096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PDF ◎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66760" y="3054096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04860" y="3054096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긴 글·구조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621024"/>
            <a:ext cx="20116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1020" y="3621024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에이전트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1460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5270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Codex PR·AgentKit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3621024"/>
            <a:ext cx="292608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78780" y="3621024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Antigravity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66760" y="3621024"/>
            <a:ext cx="3246120" cy="566928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4860" y="3621024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 Code ◎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87952"/>
            <a:ext cx="2011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020" y="4187952"/>
            <a:ext cx="19354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일상·멀티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460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5270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음성·이미지 ◎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0680" y="418795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78780" y="4187952"/>
            <a:ext cx="2849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Android·Google ◎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4187952"/>
            <a:ext cx="3246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4860" y="4187952"/>
            <a:ext cx="31699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앱에서는 약함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4828032"/>
            <a:ext cx="11201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0">
                <a:solidFill>
                  <a:srgbClr val="8A929E"/>
                </a:solidFill>
                <a:latin typeface="Apple SD Gothic Neo"/>
              </a:rPr>
              <a:t>◎ = 사용자 평가에서 상대적 강점으로 자주 언급 (공식 벤치마크 아님)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2920" y="5230368"/>
            <a:ext cx="11201400" cy="1078992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5321808"/>
            <a:ext cx="10789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권장 조합 (참고)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Claude Code(코딩) + Gemini(장문 사양서·OCR) + ChatGPT(범용·음성·신속 질의)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Apple SD Gothic Neo"/>
              </a:rPr>
              <a:t>PoC 권장: 업무별 2주 시범 운영 후 사용 한도·속도·오류율을 정량 측정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사용자 평가 기반 비교  (13/17)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공식 자료 vs 사용자 평가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2344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LLM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371600"/>
            <a:ext cx="4754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공식 자료 요지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371600"/>
            <a:ext cx="52120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Apple SD Gothic Neo"/>
              </a:rPr>
              <a:t>사용자 평가 추가 지적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224028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ChatGPT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24028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75460" y="224028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GPT-5.x, AgentKit, 생태계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24028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0340" y="224028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만능·Codex 빠름, 한도·품질 변동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08960"/>
            <a:ext cx="123444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310896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3108960"/>
            <a:ext cx="47548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75460" y="310896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3.5 Flash 벤치, Google 연동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108960"/>
            <a:ext cx="5212080" cy="868680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0340" y="310896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Workspace 편함, 코딩은 기대↓ 의견도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977640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3977640"/>
            <a:ext cx="1158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Claude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737360" y="3977640"/>
            <a:ext cx="47548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75460" y="3977640"/>
            <a:ext cx="467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Opus/Sonnet, 1M, Claude Code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977640"/>
            <a:ext cx="521208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0340" y="3977640"/>
            <a:ext cx="51358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코드 1위 인상, 한도·속도 병목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956048"/>
            <a:ext cx="11201400" cy="1353312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029200"/>
            <a:ext cx="10789920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350" b="1">
                <a:solidFill>
                  <a:srgbClr val="F27E2E"/>
                </a:solidFill>
                <a:latin typeface="Apple SD Gothic Neo"/>
              </a:rPr>
              <a:t>도입 검토 체크리스트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1. 공식 문서로 기능 지원 여부 확인  2. PoC로 일상 사용 시 제약(한도·속도·코드 품질) 검증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3. 사내 Gauss와 역할 분리 — 외부 LLM은 보안 승인 후 고급 보조 수단으로 운용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(14/17)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HW 개발 업무별 적용 가이드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560320" cy="585216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25603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업무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371600"/>
            <a:ext cx="2286000" cy="585216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1371600"/>
            <a:ext cx="22860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우선 검토 모델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371600"/>
            <a:ext cx="6355080" cy="585216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371600"/>
            <a:ext cx="63550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pple SD Gothic Neo"/>
              </a:rPr>
              <a:t>선정 근거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56816"/>
            <a:ext cx="2560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" y="1956816"/>
            <a:ext cx="24841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펌웨어·드라이버 초안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3240" y="1956816"/>
            <a:ext cx="22860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01340" y="1956816"/>
            <a:ext cx="2209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Claude, ChatGPT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9240" y="1956816"/>
            <a:ext cx="63550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340" y="1956816"/>
            <a:ext cx="62788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코드 구조·주석 품질 평가 우수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542032"/>
            <a:ext cx="2560320" cy="585216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020" y="2542032"/>
            <a:ext cx="24841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장문 데이터시트 요약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2542032"/>
            <a:ext cx="2286000" cy="585216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1340" y="2542032"/>
            <a:ext cx="2209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49240" y="2542032"/>
            <a:ext cx="6355080" cy="585216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87340" y="2542032"/>
            <a:ext cx="62788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장문 문서·검색 연동이 공식 강점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127248"/>
            <a:ext cx="2560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" y="3127248"/>
            <a:ext cx="24841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측정 로그·표 정리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3127248"/>
            <a:ext cx="22860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101340" y="3127248"/>
            <a:ext cx="2209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3종 공통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9240" y="3127248"/>
            <a:ext cx="63550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87340" y="3127248"/>
            <a:ext cx="62788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반복 정형화 작업에 모두 활용 가능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712464"/>
            <a:ext cx="2560320" cy="585216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020" y="3712464"/>
            <a:ext cx="24841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스캔 PDF·회로도 OCR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3712464"/>
            <a:ext cx="2286000" cy="585216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1340" y="3712464"/>
            <a:ext cx="2209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Gemini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3712464"/>
            <a:ext cx="6355080" cy="585216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87340" y="3712464"/>
            <a:ext cx="62788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문서·이미지 추론 공식 사례 보유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297680"/>
            <a:ext cx="256032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1020" y="4297680"/>
            <a:ext cx="248412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다단계 자동화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3240" y="4297680"/>
            <a:ext cx="228600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01340" y="4297680"/>
            <a:ext cx="2209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ChatGPT, Claude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49240" y="4297680"/>
            <a:ext cx="6355080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87340" y="4297680"/>
            <a:ext cx="62788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AgentKit / Claude Code 기반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029200"/>
            <a:ext cx="11201400" cy="1143000"/>
          </a:xfrm>
          <a:prstGeom prst="roundRect">
            <a:avLst/>
          </a:prstGeom>
          <a:solidFill>
            <a:srgbClr val="E8F1FA"/>
          </a:solidFill>
          <a:ln w="12700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5120640"/>
            <a:ext cx="10789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00" b="1">
                <a:solidFill>
                  <a:srgbClr val="1F6FB2"/>
                </a:solidFill>
                <a:latin typeface="Apple SD Gothic Neo"/>
              </a:rPr>
              <a:t>선정 가이드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코딩 중심 → Claude  |  장문 사양서·검색 → Gemini  |  범용·도구 연동 → ChatGPT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복수 도입·역할 분담 권장 (예: Claude 코딩 + Gemini 문서 처리)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(15/17)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결론: LLM별 사내 활용 방안과 도입 효과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목표는 정형·반복 업무를 최대한 AI가 직접 수행하도록 확대하여, 엔지니어가 핵심 설계·검증에 집중하는 것입니다.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72768"/>
            <a:ext cx="3675887" cy="24688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572768"/>
            <a:ext cx="3675887" cy="47548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72768"/>
            <a:ext cx="3675887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ChatGPT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212848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측정 자동화·CI/CD 로그 분석 스크립트 초안 작성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779776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회의록·시험 보고서 등 문서 초안 신속 생성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346704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AgentKit·MCP 기반 사내 도구 연동 (보안 승인 후)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399" y="1572768"/>
            <a:ext cx="3675887" cy="24688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43399" y="1572768"/>
            <a:ext cx="3675887" cy="47548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1572768"/>
            <a:ext cx="3675887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Gemini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7" y="2212848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수백 페이지 데이터시트·사양서 요약 및 검색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7" y="2779776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스캔 PDF·회로도 캡처 OCR 후 텍스트화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7" y="3346704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Google Workspace 기반 문서·협업 연계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8" y="1572768"/>
            <a:ext cx="3675887" cy="24688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78" y="1572768"/>
            <a:ext cx="3675887" cy="475488"/>
          </a:xfrm>
          <a:prstGeom prst="round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8" y="1572768"/>
            <a:ext cx="3675887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pple SD Gothic Neo"/>
              </a:rPr>
              <a:t>Claude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6" y="2212848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펌웨어·드라이버 코드 초안 및 리팩터링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5046" y="2779776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레거시 코드 분석·인수인계 문서화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6" y="3346704"/>
            <a:ext cx="32918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Claude Code 기반 장기 다단계 작업 수행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224528"/>
            <a:ext cx="11247120" cy="1783080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4224528"/>
            <a:ext cx="1060704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400" b="1">
                <a:solidFill>
                  <a:srgbClr val="9FC4E8"/>
                </a:solidFill>
                <a:latin typeface="Apple SD Gothic Neo"/>
              </a:rPr>
              <a:t>사내 도입 시 기대 효과 (AI별)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ChatGPT: 측정 자동화·문서 초안·도구 연동으로 반복 업무 처리 시간 대폭 단축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Gemini: 장문 사양서·데이터시트 분석을 자동화해 자료 조사 부담 경감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Apple SD Gothic Neo"/>
              </a:rPr>
              <a:t>• Claude: 펌웨어·드라이버 코드 작성·리팩터링으로 개발 생산성 향상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참고  (16/17)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중국 LLM 상위 2종 vs ChatGPT — 성능·결과물 비교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24688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70432"/>
            <a:ext cx="2468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비교 항목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1170432"/>
            <a:ext cx="29260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0" y="1170432"/>
            <a:ext cx="2926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ChatGPT (GPT-5.5)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0" y="1170432"/>
            <a:ext cx="297180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1170432"/>
            <a:ext cx="2971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DeepSeek V4 Pro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3960" y="1170432"/>
            <a:ext cx="2926080" cy="420624"/>
          </a:xfrm>
          <a:prstGeom prst="rect">
            <a:avLst/>
          </a:prstGeom>
          <a:solidFill>
            <a:srgbClr val="1F6FB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1170432"/>
            <a:ext cx="29260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Qwen3.7-Max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591056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5300" y="1591056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실무 코딩 (SWE-Bench)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591056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64180" y="1591056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최상위권 (프런티어)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0" y="1591056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90260" y="1591056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80.6% (근접)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23960" y="1591056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2060" y="1591056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Pro 60.6% · Term 69.7%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011680"/>
            <a:ext cx="24688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300" y="2011680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과학 추론 (GPQA)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2011680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64180" y="2011680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상위권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52160" y="2011680"/>
            <a:ext cx="297180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90260" y="2011680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90.1%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23960" y="2011680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2060" y="2011680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92.4% (최고급)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32304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300" y="2432304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맥락 길이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26080" y="2432304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64180" y="2432304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수십만 토큰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2160" y="2432304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0260" y="2432304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100만 토큰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23960" y="2432304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2060" y="2432304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100만 토큰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2852928"/>
            <a:ext cx="24688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5300" y="2852928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출력 비용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26080" y="2852928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64180" y="2852928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기준 (1x)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852160" y="2852928"/>
            <a:ext cx="297180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90260" y="2852928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약 1/34 수준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23960" y="2852928"/>
            <a:ext cx="2926080" cy="420624"/>
          </a:xfrm>
          <a:prstGeom prst="rect">
            <a:avLst/>
          </a:prstGeom>
          <a:solidFill>
            <a:srgbClr val="E8F1FA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62060" y="2852928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ChatGPT보다 저렴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273552"/>
            <a:ext cx="24688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5300" y="3273552"/>
            <a:ext cx="2392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라이선스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3273552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64180" y="3273552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클로즈드 API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52160" y="3273552"/>
            <a:ext cx="29718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890260" y="3273552"/>
            <a:ext cx="28956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오픈웨이트 (MIT)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23960" y="3273552"/>
            <a:ext cx="2926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5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62060" y="3273552"/>
            <a:ext cx="2849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95000"/>
              </a:lnSpc>
              <a:spcAft>
                <a:spcPts val="400"/>
              </a:spcAft>
            </a:pPr>
            <a:r>
              <a:rPr sz="1050" b="0">
                <a:solidFill>
                  <a:srgbClr val="444A55"/>
                </a:solidFill>
                <a:latin typeface="Apple SD Gothic Neo"/>
              </a:rPr>
              <a:t>클로즈드 API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3822191"/>
            <a:ext cx="63500" cy="29260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3803903"/>
            <a:ext cx="10972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1">
                <a:solidFill>
                  <a:srgbClr val="142A4A"/>
                </a:solidFill>
                <a:latin typeface="Apple SD Gothic Neo"/>
              </a:rPr>
              <a:t>ChatGPT 대비 결과물 차이 (실사용 평가)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206240"/>
            <a:ext cx="111556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코드: ChatGPT는 설명·주석이 친절한 범용형 / DeepSeek은 간결·고효율 코드와 수학·알고리즘 우위 / Qwen은 장기 에이전트·멀티스텝 일관성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한국어·문장: ChatGPT가 자연스러움·맥락 유지에서 우위 / 중국 모델은 영어·중국어가 강하고 한국어 미세 표현은 상대적 약세 가능</a:t>
            </a:r>
          </a:p>
          <a:p>
            <a:pPr algn="l">
              <a:lnSpc>
                <a:spcPct val="118000"/>
              </a:lnSpc>
              <a:spcAft>
                <a:spcPts val="3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• 안정성: ChatGPT는 생태계·안전장치가 성숙 / 중국 모델은 환각률 개선(Qwen 22.9%)이나 정책·검열 편향 가능성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5440680"/>
            <a:ext cx="11292840" cy="868680"/>
          </a:xfrm>
          <a:prstGeom prst="roundRect">
            <a:avLst/>
          </a:prstGeom>
          <a:solidFill>
            <a:srgbClr val="FEF1E6"/>
          </a:solidFill>
          <a:ln w="15240">
            <a:solidFill>
              <a:srgbClr val="F27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800" y="5440680"/>
            <a:ext cx="108356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Apple SD Gothic Neo"/>
              </a:rPr>
              <a:t>도입 주의: 데이터 레지던시(관할) 보장 미흡 → HW 설계·소스코드 등 민감정보 입력 금지·법무/보안 검토 필수.</a:t>
            </a:r>
          </a:p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수치는 자가보고·제3자 벤치가 혼재 → 도입 전 사내 PoC로 재검증 (사내 Gauss 보조 용도로 한정 검토).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외부 AI 3종 비교  (17/17)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출처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1005840" cy="384048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공식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OpenAI / Google Gemini / Anthropic Claude 문서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202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Reddit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9202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Foxafox 요약, RoboRhythms, TechRadar, ClaudeMeter, OpenTools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42316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Haseeb Qureshi Gist, rohittcodes/claude-vs-codex, claude-code·gemini-cli Issues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92608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2608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설문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92608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JetBrains'26, digitalapplied, Ivern(312명), Stack Overflow'25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Slack·Discord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42900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editorialge, blockchain-council, State of AI Coding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3192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중국 LLM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3192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aimlapi, benchlm.ai, qwen3lm, techjacksolutions, DataCamp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34840"/>
            <a:ext cx="1005840" cy="384048"/>
          </a:xfrm>
          <a:prstGeom prst="round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100584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pple SD Gothic Neo"/>
              </a:rPr>
              <a:t>문서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4434840"/>
            <a:ext cx="9601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>
                <a:solidFill>
                  <a:srgbClr val="444A55"/>
                </a:solidFill>
                <a:latin typeface="Apple SD Gothic Neo"/>
              </a:rPr>
              <a:t>외부AI_3종_비교조사.md + 유저평가_비교조사.md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상세 URL은 동봉 마크다운 '외부AI_3종_비교조사.md' 참조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8A929E"/>
                </a:solidFill>
                <a:latin typeface="Apple SD Gothic Neo"/>
              </a:rPr>
              <a:t>모델명·기능은 도입 시점에 공식 페이지에서 재확인 필요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