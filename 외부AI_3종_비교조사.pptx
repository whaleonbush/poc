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66160"/>
            <a:ext cx="12191695" cy="508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외부 AI 3종 비교 조사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9FC4E8"/>
                </a:solidFill>
                <a:latin typeface="Apple SD Gothic Neo"/>
              </a:rPr>
              <a:t>ChatGPT  ·  Gemini  · 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C9D8EA"/>
                </a:solidFill>
                <a:latin typeface="Apple SD Gothic Neo"/>
              </a:rPr>
              <a:t>삼성전자 스마트폰 HW 개발팀  |  2026년 6월 외부 AI 도입 검토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8A929E"/>
                </a:solidFill>
                <a:latin typeface="Apple SD Gothic Neo"/>
              </a:rPr>
              <a:t>공식 문서 + 웹 사용기 교차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(1/16)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보고 목적 및 평가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7899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왜 지금 비교하나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444A55"/>
                </a:solidFill>
                <a:latin typeface="Apple SD Gothic Neo"/>
              </a:rPr>
              <a:t>2026년 6월부터 외부 AI 도입을 검토합니다. 도입 전 ChatGPT·Gemini·Claude 각각의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444A55"/>
                </a:solidFill>
                <a:latin typeface="Apple SD Gothic Neo"/>
              </a:rPr>
              <a:t>강점과 차이를 알아두어, 우리 팀 업무에 맞는 도구를 고르기 위한 조사입니다.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60604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258775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평가 기준 (6가지)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1752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1752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생산성 (코딩·문서·반복 업무)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2044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2044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에이전트 (자동으로 여러 단계 수행)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문서·지식 (긴 사양서·검색·OCR)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52628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52628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멀티모달 (이미지·PDF 등)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2920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엔터프라이즈 (관리·보안·연동)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53212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53212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비용·속도 (API·사용 제한)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606040"/>
            <a:ext cx="5257800" cy="320040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2743200"/>
            <a:ext cx="48463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조사 방법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1차: 각 회사 공식 문서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2차: 웹 사용기·비교 리뷰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(참고로 표기)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00" b="0">
                <a:solidFill>
                  <a:srgbClr val="444A55"/>
                </a:solidFill>
                <a:latin typeface="Apple SD Gothic Neo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주의: 보안·라이선스는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1">
                <a:solidFill>
                  <a:srgbClr val="C0392B"/>
                </a:solidFill>
                <a:latin typeface="Apple SD Gothic Neo"/>
              </a:rPr>
              <a:t>별도 법무·보안 검토 필요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(2/16)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3종 한눈에 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23444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234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AI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417320"/>
            <a:ext cx="20116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41732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한 줄 포지션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417320"/>
            <a:ext cx="502920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417320"/>
            <a:ext cx="50292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강점 (공식·참고)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417320"/>
            <a:ext cx="29260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1417320"/>
            <a:ext cx="29260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주의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8600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228600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ChatGPT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2286000"/>
            <a:ext cx="20116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75460" y="228600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만능형 올라운더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286000"/>
            <a:ext cx="5029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87140" y="228600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추론·코딩·AgentKit·MCP·도구 생태계 최대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0" y="2286000"/>
            <a:ext cx="2926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6340" y="228600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범용이라 업무별 최적은 다를 수 있음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154680"/>
            <a:ext cx="123444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315468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7360" y="3154680"/>
            <a:ext cx="20116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75460" y="315468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연동·긴 문서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49040" y="3154680"/>
            <a:ext cx="502920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87140" y="315468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3.5 Flash 에이전트·코딩·검색·멀티모달·속도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78240" y="3154680"/>
            <a:ext cx="29260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16340" y="315468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생태계 의존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02336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402336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37360" y="4023360"/>
            <a:ext cx="20116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75460" y="402336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코딩·장기 에이전트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4023360"/>
            <a:ext cx="5029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7140" y="402336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Opus/Sonnet·1M 맥락·Claude Code·구조화 출력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0" y="4023360"/>
            <a:ext cx="2926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16340" y="402336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창의·범용은 ChatGPT 대비 평가 분산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572000"/>
            <a:ext cx="11201400" cy="13716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70916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핵심 메시지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pple SD Gothic Neo"/>
              </a:rPr>
              <a:t>세 AI 모두 '최고 하나'가 아니라, 업무 유형별로 맞는 도구가 다릅니다. 실무에서는 복수 도입·역할 분담도 흔합니다.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(3/16)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ChatGPT (OpenAI)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GPT-5.5: 복잡 추론·코딩용 플래그십 (맥락 약 100만 토큰)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Responses API: 추론·도구·웹/파일 검색·Computer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AgentKit: 에이전트 설계·ChatKit·MCP·Evals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이미지·음성 등 전용 모델 라인업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만능형: DevOps·인프라·프로토타입에 강점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도구·플러그인 생태계가 가장 넓음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엔터프라이즈 도입 사례·지원 체계 풍부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측정 자동화 스크립트 초안, CI/CD 로그 분석, 회의록·시험 보고서 초안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MCP로 사내 도구 연동 검토 시 후보 (보안 승인 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(4/16)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Gemini (Google)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Gemini 3.5 Flash: 에이전트·코딩·멀티모달 (2026.5 GA)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Google Search·File Search·URL Context 그라운딩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Managed Agents, Antigravity 개발 플랫폼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100+ 페이지 문서 추론 사례 (금융 등)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긴 코드베이스·사양서 한 번에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검색·최신 정보·비용 효율 강점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보안·논리 분석 맥락 이해 평가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센서·PMIC 데이터시트(수백 페이지)에서 설정값 찾기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스캔 PDF·회로도 캡처 OCR 후 텍스트 정리 (공식 OCR 사례)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(5/16)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Claude (Anthropic)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Opus 4.6/4.7, Sonnet 4.6: 복잡 추론·장기 에이전트 코딩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맥락 최대 100만 토큰 (Opus/Sonnet 4.6)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Claude Code, Agent SDK, Skills, 구조화 출력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코드 실행·웹 검색·PDF 입력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프로덕션 코딩 품질·가독성 우위 평가 다수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멀티파일 리팩터링·레거시 코드 이해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규제·보안 민감 업무 선호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I2C/SPI 드라이버·HAL 코드 초안, MISRA-C 스타일 점검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옛날 펌웨어 코드 설명·인수인계 문서 초안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(6/16)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기능 비교 매트릭스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228600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2286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항목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1371600"/>
            <a:ext cx="292608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1371600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1371600"/>
            <a:ext cx="292608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1371600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49640" y="1371600"/>
            <a:ext cx="292608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1371600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01952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580" y="1901952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코딩·추론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1901952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35580" y="190195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23560" y="1901952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1660" y="190195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9640" y="1901952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87740" y="190195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432304"/>
            <a:ext cx="22860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580" y="2432304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에이전트·MCP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97480" y="2432304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35580" y="243230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23560" y="2432304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1660" y="243230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49640" y="2432304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87740" y="243230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2962656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580" y="2962656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긴 문서·맥락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97480" y="2962656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35580" y="2962656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23560" y="2962656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1660" y="2962656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49640" y="2962656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87740" y="2962656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493008"/>
            <a:ext cx="22860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9580" y="3493008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검색·최신정보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97480" y="3493008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35580" y="3493008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23560" y="3493008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1660" y="3493008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49640" y="3493008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87740" y="3493008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4023360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9580" y="4023360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멀티모달·OCR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97480" y="4023360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35580" y="4023360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23560" y="4023360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1660" y="4023360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49640" y="4023360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87740" y="4023360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4553712"/>
            <a:ext cx="22860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9580" y="4553712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Google 연동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97480" y="4553712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35580" y="455371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△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23560" y="4553712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1660" y="455371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49640" y="4553712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87740" y="455371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△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5084064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9580" y="5084064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코드 품질(참고)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97480" y="5084064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35580" y="508406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23560" y="5084064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1660" y="508406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49640" y="5084064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87740" y="508406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5806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8A929E"/>
                </a:solidFill>
                <a:latin typeface="Apple SD Gothic Neo"/>
              </a:rPr>
              <a:t>◎ 강함  ○ 보통  △ 상대적 약함  |  '코드 품질'은 웹 사용기 참고, 공식 벤치 아님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(7/16)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Reddit · X · GitHub · Slack · Discord — 조사 방법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7899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수집 범위 (5개 채널)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3035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Reddit: 비교·불만 스레드, 고득표(수천 upvotes) 글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X: 개발자·빌더 커뮤니티, 2025~26 Claude 전환 논의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GitHub: Gist·claude-vs-codex 리포, 공식 Issues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Slack: 팀 협업·요약·엔터프라이즈 연동 사용기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Discord: 코딩 커뮤니티 서버·원격 제어·설문 배포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234440"/>
            <a:ext cx="5532120" cy="237744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371600"/>
            <a:ext cx="5166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주의 (한계)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API로 전체 수집한 것이 아님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개인 경험·버전·요금제에 따라 다름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홍보·제휴 글 혼재 가능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444A55"/>
                </a:solidFill>
                <a:latin typeface="Apple SD Gothic Neo"/>
              </a:rPr>
              <a:t/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C0392B"/>
                </a:solidFill>
                <a:latin typeface="Apple SD Gothic Neo"/>
              </a:rPr>
              <a:t>→ '반복되는 패턴'만 정리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4048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822192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유저들이 공통으로 말하는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142A4A"/>
                </a:solidFill>
                <a:latin typeface="Apple SD Gothic Neo"/>
              </a:rPr>
              <a:t>• '최고 하나'보다 업무별로 여러 AI를 스택으로 쓴다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공식 벤치보다 '매일 쓸 때 한도·속도·실수'가 더 중요하다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코딩은 Claude, 긴 문서·Google 업무는 Gemini, 만능·음성은 ChatGPT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(8/16)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플랫폼별에서 들리는 목소리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3716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371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플랫폼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20" y="1280160"/>
            <a:ext cx="32004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4520" y="128016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280160"/>
            <a:ext cx="32004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128016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1280160"/>
            <a:ext cx="34290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280160"/>
            <a:ext cx="3429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828800"/>
            <a:ext cx="1371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182880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Reddit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20" y="182880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12620" y="182880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만능 칼: 음성·이미지·검색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182880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3020" y="182880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앱 통합 편함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20" y="1828800"/>
            <a:ext cx="3429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3420" y="182880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글·코드 품질, 한도 불만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377440"/>
            <a:ext cx="13716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237744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X·개발자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20" y="237744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12620" y="237744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속도·위임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237744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13020" y="237744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Workspace·긴 문서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2377440"/>
            <a:ext cx="34290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3420" y="237744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빌더층 이동·Claude Code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926080"/>
            <a:ext cx="1371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292608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GitHub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20" y="292608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12620" y="292608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샌드박스·비용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4920" y="292608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13020" y="292608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무료 티어 보완용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2926080"/>
            <a:ext cx="3429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13420" y="292608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hooks·plugins·코드 품질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474720"/>
            <a:ext cx="13716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1020" y="347472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Slack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20" y="347472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12620" y="347472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RAG 연결 비서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74920" y="347472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13020" y="347472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Workspace·Meet 요약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5320" y="3474720"/>
            <a:ext cx="34290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13420" y="347472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문서·정책 분석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023360"/>
            <a:ext cx="1371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020" y="402336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Discord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20" y="402336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912620" y="402336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질문·이미지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74920" y="402336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3020" y="402336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설문·토론 활발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75320" y="4023360"/>
            <a:ext cx="3429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13420" y="402336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MCP 원격 코딩 제어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4434840"/>
            <a:ext cx="11201400" cy="16916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553712"/>
            <a:ext cx="10789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대표 인용 패턴 (참고)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ChatGPT: "Swiss army knife" — 빠르고 넓지만 프로덕션 코드는 Claude가 낫다는 의견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Gemini: "검색 레이어" vs "긴 문서는 최고" — 코딩은 평가 갈림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Claude: "scalpel" — 멀티파일·리팩터링 호평, 느리고 한도 걸린다는 불만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(9/16)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Slack · Discord 커뮤니티 사용기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7432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7432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Slack (팀 협업 관점)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Slack AI: 스레드 요약·액션아이템 추출 효율 호평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ChatGPT: Slack·Git·Confluence에 RAG로 연결한 '프론트도어 비서' 사례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엔터프라이즈: 'Slack → 작업(task) 자동화' 가능 여부를 비교 기준으로 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Gemini: Workspace·Meet 요약과 함께 묶어서 평가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7432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7432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Discord (개발자 커뮤니티)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Claude Code를 Discord에서 원격 제어(MCP) — 폰으로 코딩 지시·결과 수신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AI 코딩 설문이 Discord 채널로 배포될 만큼 토론 활발 (Ivern 312명 등)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단골 주제: 도구 갈아타기 · 한도 · 비용 · 신뢰(틀린 코드)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7063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커뮤니티 톤: '하나만 쓰지 않고 스택으로 쓴다'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51960"/>
            <a:ext cx="11201400" cy="18288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389120"/>
            <a:ext cx="107899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HW팀 시사점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• 팀 단위 활용은 Slack 요약/액션아이템부터 — 회의록·시험결과 공유에 즉시 효과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• Discord·MCP 원격 제어는 보안상 사내 정책 검토 후에만 (외부 연동 주의)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(10/16)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정량 데이터 (제3자 설문·통계, 참고)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274320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27432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지표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325880"/>
            <a:ext cx="640080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325880"/>
            <a:ext cx="6400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수치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0" y="1325880"/>
            <a:ext cx="210312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1325880"/>
            <a:ext cx="21031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출처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56232"/>
            <a:ext cx="27432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" y="1856232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'가장 사랑하는' 코딩툴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1856232"/>
            <a:ext cx="6400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38500" y="1856232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46% · Cursor 19% · Copilot 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0" y="1856232"/>
            <a:ext cx="2103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39300" y="1856232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JetBrains'26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86584"/>
            <a:ext cx="27432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300" y="2386584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1차 사용 도구 점유율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2386584"/>
            <a:ext cx="64008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38500" y="2386584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28% · Cursor 24% · Copilot 17% · Codex 11%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0" y="2386584"/>
            <a:ext cx="21031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39300" y="2386584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digitalapplied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916936"/>
            <a:ext cx="27432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300" y="2916936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전체 사용(any-use)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0" y="2916936"/>
            <a:ext cx="6400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38500" y="2916936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Copilot 58% · Claude Code 54% · Cursor 49%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2916936"/>
            <a:ext cx="2103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39300" y="2916936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digitalapplied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447288"/>
            <a:ext cx="27432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300" y="3447288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멀티툴 동시 사용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3447288"/>
            <a:ext cx="64008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38500" y="3447288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개발자 70~73%가 2개 이상 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0" y="3447288"/>
            <a:ext cx="21031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39300" y="3447288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Awesome/Ivern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77640"/>
            <a:ext cx="27432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5300" y="3977640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멀티에이전트 시간 절감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0" y="3977640"/>
            <a:ext cx="6400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38500" y="3977640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11.4h/주 (단일툴 5.2h)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0" y="3977640"/>
            <a:ext cx="2103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39300" y="3977640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Ivern 312명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507992"/>
            <a:ext cx="27432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5300" y="4507992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AI 도입 vs 신뢰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0" y="4507992"/>
            <a:ext cx="64008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38500" y="4507992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도입 84% · 신뢰 29% (전년比 -11p)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01200" y="4507992"/>
            <a:ext cx="21031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39300" y="4507992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Stack Overflow'25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029200"/>
            <a:ext cx="11247120" cy="109728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5138928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읽는 법 (주의)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표본·방법이 서로 다른 제3자 설문 → '순위'보다 '경향'으로 해석. 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C0392B"/>
                </a:solidFill>
                <a:latin typeface="Apple SD Gothic Neo"/>
              </a:rPr>
              <a:t>'GPT-5 horrible' 4,600 upvotes, 해지 1.5M 등 언론 인용 수치는 공식 미검증.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(11/16)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AI별 실사용 불만 (상세)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80160"/>
            <a:ext cx="3703320" cy="32918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6200" cy="32918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71600"/>
            <a:ext cx="3337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190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GPT-5 전환 후 '답 짧음·개성↓·다단계 추론↓' 대규모 불만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8483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Plus 사용 한도(주당 thinking 메시지) 체감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505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피크시간 품질 변동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안전필터 과도한 거절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280160"/>
            <a:ext cx="3703320" cy="32918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280160"/>
            <a:ext cx="76200" cy="329184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371600"/>
            <a:ext cx="3337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Gemini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7190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'코드 바꾸지 말고 분석만' 지시 무시 등 지시 불이행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08483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자율 과잉: 340파일 변경·28,745줄 삭제 + 허위 점검 로그 사건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4505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멀티스텝에서 워크플로 상태 상실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81635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소비자용 UX(파일 생성·검색 제어 제약)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280160"/>
            <a:ext cx="3657600" cy="32918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280160"/>
            <a:ext cx="76200" cy="3291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137160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Apple SD Gothic Neo"/>
              </a:rPr>
              <a:t>Claude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171907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Rate limit 최대 불만: 주간 캡 1~2일 소진·경고 없이 차단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08483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8개 사용량 버킷 중 하나만 100%여도 throttle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45059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claude.ai·Code·Design 한도 통합 → 한 곳 쓰면 다른 곳↓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81635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상대적으로 느리고 비쌈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4800600"/>
            <a:ext cx="11338560" cy="13258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937760"/>
            <a:ext cx="108813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HW팀 시사점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사내 Gauss의 '분당 3~4회 제한'처럼, 외부 AI도 '사용 한도'가 실무 병목이 됩니다.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→ PoC에서 한도·속도·코드 신뢰도(틀린 코드 비율)를 반드시 직접 측정하세요.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(12/16)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업무별 유저 평가 (HW 관점)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53312"/>
            <a:ext cx="20116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53312"/>
            <a:ext cx="20116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353312"/>
            <a:ext cx="29260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1353312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353312"/>
            <a:ext cx="29260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1353312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353312"/>
            <a:ext cx="324612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353312"/>
            <a:ext cx="3246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920240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1920240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코딩 품질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1920240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2700" y="1920240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초안·Codex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1920240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78780" y="1920240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repo 통째·속도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66760" y="1920240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04860" y="1920240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가독성·멀티파일 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487168"/>
            <a:ext cx="20116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2487168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디버깅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14600" y="2487168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2700" y="2487168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수정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2487168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78780" y="2487168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보안·맥락 설명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66760" y="2487168"/>
            <a:ext cx="32461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04860" y="2487168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원인 설명 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054096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3054096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데이터시트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3054096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52700" y="3054096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보통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40680" y="3054096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78780" y="3054096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PDF 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66760" y="3054096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04860" y="3054096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글·구조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621024"/>
            <a:ext cx="20116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1020" y="3621024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에이전트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621024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52700" y="3621024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PR·AgentKit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40680" y="3621024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78780" y="3621024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Antigravity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66760" y="3621024"/>
            <a:ext cx="32461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04860" y="3621024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◎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87952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020" y="4187952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일상·멀티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4187952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52700" y="4187952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음성·이미지 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40680" y="4187952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78780" y="4187952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Android·Google ◎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66760" y="4187952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4860" y="4187952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앱에서는 약함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4617720"/>
            <a:ext cx="11201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8A929E"/>
                </a:solidFill>
                <a:latin typeface="Apple SD Gothic Neo"/>
              </a:rPr>
              <a:t>◎ = 유저 후기에서 상대적 강점으로 자주 언급 (공식 벤치 아님)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" y="5074920"/>
            <a:ext cx="11201400" cy="123444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5212080"/>
            <a:ext cx="10789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유저 추천 스택 (참고)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Claude Code(코딩) + Gemini(긴 사양서·OCR) + ChatGPT(만능·음성·빠른 질문)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HW팀 PoC: 업무별로 2주씩 써 보고 한도·속도·실수율을 직접 측정 권장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(13/16)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공식 소개 vs 유저 평가 — 차이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23444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234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AI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371600"/>
            <a:ext cx="47548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371600"/>
            <a:ext cx="4754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공식이 말하는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371600"/>
            <a:ext cx="52120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71600"/>
            <a:ext cx="52120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유저가 추가로 말하는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4028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020" y="224028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ChatGPT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2240280"/>
            <a:ext cx="47548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75460" y="224028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GPT-5.x, AgentKit, 생태계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240280"/>
            <a:ext cx="5212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0340" y="224028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만능·Codex 빠름, 한도·품질 변동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08960"/>
            <a:ext cx="123444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020" y="310896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3108960"/>
            <a:ext cx="47548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75460" y="310896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3.5 Flash 벤치, Google 연동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108960"/>
            <a:ext cx="52120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0340" y="310896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Workspace 편함, 코딩은 기대↓ 의견도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97764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" y="397764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Claude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7360" y="3977640"/>
            <a:ext cx="47548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75460" y="397764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Opus/Sonnet, 1M, Claude Code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3977640"/>
            <a:ext cx="5212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0340" y="397764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코드 1위 인상, 한도·속도 병목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709160"/>
            <a:ext cx="11201400" cy="160020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46320"/>
            <a:ext cx="1078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도입 시 체크리스트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1. 공식 문서로 '기능이 되는지' 확인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2. 유저 후기로 '매일 쓸 때 불편한지' PoC에서 확인 (한도·속도·코드 검증)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3. 사내 Gauss와 역할 분리 — 외부는 보안 승인 후 고급 보조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(14/16)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HW 개발팀 적용 및 선택 가이드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56032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371600"/>
            <a:ext cx="228600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1371600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우선 검토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49240" y="1371600"/>
            <a:ext cx="635508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371600"/>
            <a:ext cx="6355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이유 (쉬운 말)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7452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020" y="187452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펌웨어·드라이버 초안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40" y="187452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1340" y="187452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Claude, ChatGPT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187452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340" y="187452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코드 구조·주석 품질 평가 높음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37744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020" y="237744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데이터시트 요약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63240" y="237744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1340" y="237744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49240" y="237744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87340" y="237744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문서·검색이 공식 강점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88036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" y="288036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측정 로그·표 정리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63240" y="288036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01340" y="288036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3종 모두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9240" y="288036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87340" y="288036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반복 정리는 모두 활용 가능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38328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338328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스캔 PDF·회로도 OCR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63240" y="338328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1340" y="338328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49240" y="338328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87340" y="338328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문서·이미지 추론 공식 사례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88620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1020" y="388620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다단계 자동화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63240" y="388620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01340" y="388620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ChatGPT, Claude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49240" y="388620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87340" y="388620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AgentKit / Claude Code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38912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1020" y="438912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최종 회로·양산 판단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63240" y="438912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101340" y="438912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사람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49240" y="438912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87340" y="438912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AI는 보조, 실측 필수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4892040"/>
            <a:ext cx="11201400" cy="12344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029200"/>
            <a:ext cx="10789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F6FB2"/>
                </a:solidFill>
                <a:latin typeface="Apple SD Gothic Neo"/>
              </a:rPr>
              <a:t>선택 가이드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코딩 중심 → Claude  |  긴 사양서·검색 → Gemini  |  범용·도구 연결 → ChatGPT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복수 도입·역할 분담 권장 (예: Claude 코딩 + Gemini 문서)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(15/16)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결론 및 제언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3611880" cy="29260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3611880" cy="50292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25880"/>
            <a:ext cx="3611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당장 PoC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코드·문서 초안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측정 데이터 정리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로그 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반복 업무 자동화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325880"/>
            <a:ext cx="3611880" cy="29260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34840" y="1325880"/>
            <a:ext cx="3611880" cy="502920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325880"/>
            <a:ext cx="3611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신중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0116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회로·부품 최종 판단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4688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불량 원인 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260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양산 영향 평가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75320" y="1325880"/>
            <a:ext cx="3611880" cy="29260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75320" y="1325880"/>
            <a:ext cx="3611880" cy="50292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1325880"/>
            <a:ext cx="3611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개선·검토 과제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0116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보안·법무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4688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사내 Gauss와 역할 분리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9260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팀 공통 가이드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33832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도구별 라이선스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526280"/>
            <a:ext cx="11018520" cy="141732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663440"/>
            <a:ext cx="10515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9FC4E8"/>
                </a:solidFill>
                <a:latin typeface="Apple SD Gothic Neo"/>
              </a:rPr>
              <a:t>최종 결론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pple SD Gothic Neo"/>
              </a:rPr>
              <a:t>외부 AI는 사내 Gauss를 대체하기보다, 보안 검토 후 '고급 보조'로 쓰는 것이 현실적입니다.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pple SD Gothic Neo"/>
              </a:rPr>
              <a:t>6월 도입 전: 업무별 PoC 1~2건 선정 → 효과·보안 측정 → 팀 표준 가이드화를 제안합니다.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(16/16)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출처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05840" cy="384048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공식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1732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OpenAI / Google Gemini / Anthropic Claude 문서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Reddit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92024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Foxafox 요약, RoboRhythms, TechRadar, ClaudeMeter, OpenTools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2316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42316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Haseeb Qureshi Gist, rohittcodes/claude-vs-codex, claude-code·gemini-cli Issues, arXiv 20,574 세션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92608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2608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설문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92608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JetBrains'26, digitalapplied, Ivern(312명), Stack Overflow'25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Slack·Discord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42900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editorialge, blockchain-council, State of AI Coding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3192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X·참고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93192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Vapvarun, CatDoes, Medium 2026 field report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3484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3484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문서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43484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외부AI_3종_비교조사.md + 유저평가_비교조사.md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상세 URL은 동봉 마크다운 '외부AI_3종_비교조사.md' 참조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모델명·기능은 도입 시점에 공식 페이지에서 재확인 필요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