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874519"/>
            <a:ext cx="106070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외부 AI 4종 벤치마크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" y="29718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9FC4E8"/>
                </a:solidFill>
                <a:latin typeface="Apple SD Gothic Neo"/>
              </a:rPr>
              <a:t>Claude  ·  ChatGPT  ·  Gemini  ·  Grok  (각 사 최신 플래그십)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3657600"/>
            <a:ext cx="4206240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3950208"/>
            <a:ext cx="1060704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NC HW 개발팀  |  2026년 6월  |  임원 보고용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A929E"/>
                </a:solidFill>
                <a:latin typeface="Apple SD Gothic Neo"/>
              </a:rPr>
              <a:t>출처: 각 사 공식 Model/System Card + Artificial Analysis·Vellum 등 독립 집계 교차검증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 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[방식 A] 종합 비교 — Artificial Analysis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60704"/>
            <a:ext cx="1124712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독립 집계기관 Artificial Analysis의 종합 지능지수(Intelligence Index)와 가격·맥락을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2651760" cy="548640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481328"/>
            <a:ext cx="2240280" cy="548640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481328"/>
            <a:ext cx="22402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Claude Opus 4.8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1481328"/>
            <a:ext cx="2103120" cy="548640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1481328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GPT-5.5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481328"/>
            <a:ext cx="2103120" cy="548640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1481328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Gemini 3.1 Pro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55480" y="1481328"/>
            <a:ext cx="2103120" cy="548640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1481328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Grok 4.3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29968"/>
            <a:ext cx="265176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800" y="2029968"/>
            <a:ext cx="25120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142A4A"/>
                </a:solidFill>
                <a:latin typeface="Apple SD Gothic Neo"/>
              </a:rPr>
              <a:t>종합 지능지수 (AA Index)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2029968"/>
            <a:ext cx="224028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47060" y="2029968"/>
            <a:ext cx="2164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61  (1위)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02996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87340" y="202996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60" y="202996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0460" y="202996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55480" y="202996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93580" y="202996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53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578608"/>
            <a:ext cx="265176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800" y="2578608"/>
            <a:ext cx="25120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142A4A"/>
                </a:solidFill>
                <a:latin typeface="Apple SD Gothic Neo"/>
              </a:rPr>
              <a:t>강점 포지션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08960" y="2578608"/>
            <a:ext cx="224028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47060" y="2578608"/>
            <a:ext cx="2164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코딩·에이전트 최상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49240" y="257860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87340" y="257860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범용·터미널 코딩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257860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0460" y="257860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가성비 추론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5480" y="257860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3580" y="257860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초저가 에이전트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127248"/>
            <a:ext cx="265176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8800" y="3127248"/>
            <a:ext cx="25120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142A4A"/>
                </a:solidFill>
                <a:latin typeface="Apple SD Gothic Neo"/>
              </a:rPr>
              <a:t>입력 가격 ($/1M)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3127248"/>
            <a:ext cx="22402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47060" y="3127248"/>
            <a:ext cx="2164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$5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312724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87340" y="312724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$5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52360" y="312724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0460" y="312724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$2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55480" y="3127248"/>
            <a:ext cx="2103120" cy="548640"/>
          </a:xfrm>
          <a:prstGeom prst="rect">
            <a:avLst/>
          </a:prstGeom>
          <a:solidFill>
            <a:srgbClr val="FEF1E6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93580" y="312724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$1.25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675888"/>
            <a:ext cx="265176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8800" y="3675888"/>
            <a:ext cx="25120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142A4A"/>
                </a:solidFill>
                <a:latin typeface="Apple SD Gothic Neo"/>
              </a:rPr>
              <a:t>출력 가격 ($/1M)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675888"/>
            <a:ext cx="224028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47060" y="3675888"/>
            <a:ext cx="2164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$25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367588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87340" y="367588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$30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367588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0460" y="367588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$12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55480" y="3675888"/>
            <a:ext cx="2103120" cy="548640"/>
          </a:xfrm>
          <a:prstGeom prst="rect">
            <a:avLst/>
          </a:prstGeom>
          <a:solidFill>
            <a:srgbClr val="FEF1E6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93580" y="367588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$2.50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224528"/>
            <a:ext cx="265176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8800" y="4224528"/>
            <a:ext cx="25120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142A4A"/>
                </a:solidFill>
                <a:latin typeface="Apple SD Gothic Neo"/>
              </a:rPr>
              <a:t>컨텍스트 길이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4224528"/>
            <a:ext cx="22402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47060" y="4224528"/>
            <a:ext cx="2164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200K (1M 베타)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422452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87340" y="422452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272K (최대 1M)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52360" y="422452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0460" y="422452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55480" y="4224528"/>
            <a:ext cx="2103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93580" y="422452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4773168"/>
            <a:ext cx="265176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8800" y="4773168"/>
            <a:ext cx="251206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1">
                <a:solidFill>
                  <a:srgbClr val="142A4A"/>
                </a:solidFill>
                <a:latin typeface="Apple SD Gothic Neo"/>
              </a:rPr>
              <a:t>개발사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08960" y="4773168"/>
            <a:ext cx="224028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47060" y="4773168"/>
            <a:ext cx="21640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Anthropic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49240" y="477316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87340" y="477316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OpenAI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477316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90460" y="477316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55480" y="4773168"/>
            <a:ext cx="2103120" cy="548640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93580" y="4773168"/>
            <a:ext cx="2026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5440680"/>
            <a:ext cx="11292840" cy="9601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5440680"/>
            <a:ext cx="1078992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해석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30" b="0">
                <a:solidFill>
                  <a:srgbClr val="FFFFFF"/>
                </a:solidFill>
                <a:latin typeface="Apple SD Gothic Neo"/>
              </a:rPr>
              <a:t>• 성능: 상위 3종(Claude·GPT·Gemini)은 지능지수 57~61로 격차가 작음 → '동급 최상위권'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30" b="0">
                <a:solidFill>
                  <a:srgbClr val="FFFFFF"/>
                </a:solidFill>
                <a:latin typeface="Apple SD Gothic Neo"/>
              </a:rPr>
              <a:t>• 비용: Grok은 성능은 한 단계 낮으나 출력가가 1/10 수준 → 대량·저비용 작업에 유리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 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[방식 B] 벤치마크별 상세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60704"/>
            <a:ext cx="1124712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역량별 대표 벤치마크 점수 (높을수록 우수). 굵은 값 = 해당 항목 최고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3063240" cy="512064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30632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벤치마크 (역량)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481328"/>
            <a:ext cx="2103120" cy="512064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81328"/>
            <a:ext cx="21031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Claude Opus 4.8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481328"/>
            <a:ext cx="1920240" cy="512064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60" y="1481328"/>
            <a:ext cx="19202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GPT-5.5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481328"/>
            <a:ext cx="2103120" cy="512064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1481328"/>
            <a:ext cx="21031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Gemini 3.1 Pro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1481328"/>
            <a:ext cx="2011680" cy="512064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1481328"/>
            <a:ext cx="20116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Grok 4.3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93392"/>
            <a:ext cx="3063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800" y="1993392"/>
            <a:ext cx="29235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SWE-bench Verified (코딩)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40" y="1993392"/>
            <a:ext cx="210312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8540" y="1993392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444A55"/>
                </a:solidFill>
                <a:latin typeface="Apple SD Gothic Neo"/>
              </a:rPr>
              <a:t>88.6%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1993392"/>
            <a:ext cx="19202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1660" y="1993392"/>
            <a:ext cx="18440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75%*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1993392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1900" y="1993392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80.6%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6920" y="1993392"/>
            <a:ext cx="20116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5020" y="1993392"/>
            <a:ext cx="19354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72~75%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505456"/>
            <a:ext cx="3063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800" y="2505456"/>
            <a:ext cx="29235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SWE-bench Pro (난이도↑ 코딩)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2505456"/>
            <a:ext cx="210312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8540" y="2505456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444A55"/>
                </a:solidFill>
                <a:latin typeface="Apple SD Gothic Neo"/>
              </a:rPr>
              <a:t>69.2%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23560" y="2505456"/>
            <a:ext cx="192024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1660" y="2505456"/>
            <a:ext cx="18440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58.6%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505456"/>
            <a:ext cx="210312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1900" y="2505456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54.2%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2505456"/>
            <a:ext cx="201168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85020" y="2505456"/>
            <a:ext cx="19354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미공개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017520"/>
            <a:ext cx="3063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8800" y="3017520"/>
            <a:ext cx="29235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Terminal-Bench 2.x (터미널 코딩)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3017520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8540" y="3017520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69%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23560" y="3017520"/>
            <a:ext cx="1920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1660" y="3017520"/>
            <a:ext cx="18440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444A55"/>
                </a:solidFill>
                <a:latin typeface="Apple SD Gothic Neo"/>
              </a:rPr>
              <a:t>78.2%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017520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1900" y="3017520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68.5%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46920" y="3017520"/>
            <a:ext cx="20116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85020" y="3017520"/>
            <a:ext cx="19354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미공개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529584"/>
            <a:ext cx="3063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8800" y="3529584"/>
            <a:ext cx="29235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GPQA Diamond (대학원 과학)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20440" y="3529584"/>
            <a:ext cx="210312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58540" y="3529584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93.6%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23560" y="3529584"/>
            <a:ext cx="192024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1660" y="3529584"/>
            <a:ext cx="18440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92%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3529584"/>
            <a:ext cx="210312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81900" y="3529584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444A55"/>
                </a:solidFill>
                <a:latin typeface="Apple SD Gothic Neo"/>
              </a:rPr>
              <a:t>94.3%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46920" y="3529584"/>
            <a:ext cx="201168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020" y="3529584"/>
            <a:ext cx="19354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88%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041648"/>
            <a:ext cx="3063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8800" y="4041648"/>
            <a:ext cx="29235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HLE (도구 없음, 최난도 추론)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404164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8540" y="4041648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49.8%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23560" y="4041648"/>
            <a:ext cx="19202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1660" y="4041648"/>
            <a:ext cx="18440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41.4%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404164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81900" y="4041648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44.4%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20" y="4041648"/>
            <a:ext cx="201168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85020" y="4041648"/>
            <a:ext cx="19354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444A55"/>
                </a:solidFill>
                <a:latin typeface="Apple SD Gothic Neo"/>
              </a:rPr>
              <a:t>50.7%*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4553712"/>
            <a:ext cx="306324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8800" y="4553712"/>
            <a:ext cx="29235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에이전트 (GDPval-AA, Elo)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20440" y="4553712"/>
            <a:ext cx="210312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58540" y="4553712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최상위군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23560" y="4553712"/>
            <a:ext cx="192024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1660" y="4553712"/>
            <a:ext cx="184404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높음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4553712"/>
            <a:ext cx="2103120" cy="512064"/>
          </a:xfrm>
          <a:prstGeom prst="rect">
            <a:avLst/>
          </a:prstGeom>
          <a:solidFill>
            <a:srgbClr val="F6F9FC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81900" y="4553712"/>
            <a:ext cx="202692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1317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4553712"/>
            <a:ext cx="2011680" cy="51206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85020" y="4553712"/>
            <a:ext cx="1935480" cy="51206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1">
                <a:solidFill>
                  <a:srgbClr val="444A55"/>
                </a:solidFill>
                <a:latin typeface="Apple SD Gothic Neo"/>
              </a:rPr>
              <a:t>1500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5175504"/>
            <a:ext cx="11292840" cy="1225296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75504"/>
            <a:ext cx="10835640" cy="12252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50" b="1">
                <a:solidFill>
                  <a:srgbClr val="F27E2E"/>
                </a:solidFill>
                <a:latin typeface="Apple SD Gothic Neo"/>
              </a:rPr>
              <a:t>읽는 법 및 유의사항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• 코딩(SWE-bench)·지식작업은 Claude, 터미널 코딩은 GPT, 가성비 과학추론은 Gemini, 저비용 에이전트는 Grok 우위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80" b="0">
                <a:solidFill>
                  <a:srgbClr val="C0392B"/>
                </a:solidFill>
                <a:latin typeface="Apple SD Gothic Neo"/>
              </a:rPr>
              <a:t>• * 표시: 측정 harness·조건이 달라 직접 비교 주의 (GPT-5.5 SWE Verified·Grok HLE는 일부 공식 미공개 → 근사치)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• GPQA는 상위권이 90%대 포화 상태로 변별력 낮음 → HLE·SWE-bench Pro가 실질 변별 지표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 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 및 검증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109728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1차 출처 — 각 사 공식 (Model / System Card)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Anthropic — Claude Opus 4.8 System Card / anthropic.com/news/claude-opus-4-8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OpenAI — GPT-5.5 System Card / OpenAI Deployment Safety Hub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Google DeepMind — Gemini 3.1 Pro Model Card (deepmind.google/models)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xAI — Grok 4.3 Model Card (docs.x.ai)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6324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044952"/>
            <a:ext cx="109728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2차 출처 — 독립 집계 (벤더 중립)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56432"/>
            <a:ext cx="10972800" cy="1051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Artificial Analysis — 종합 지능지수·가격·속도 (artificialanalysis.ai)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Vellum — 모델별 벤치마크 해설 / LMArena — 사용자 블라인드 선호(Elo)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Stanford HELM·Epoch AI·Scale SEAL — 학술·오염통제 독립 평가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74920"/>
            <a:ext cx="1120140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74920"/>
            <a:ext cx="10698480" cy="13258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유의사항 (임원 보고 시)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• 공식 수치는 자가보고(self-reported)이며 측정 harness에 따라 점수가 달라짐 → 독립 집계와 교차검증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• 모델·가격은 업데이트가 잦으므로 도입 시점에 공식 페이지에서 재확인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