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300" b="1">
                <a:solidFill>
                  <a:srgbClr val="142A4A"/>
                </a:solidFill>
                <a:latin typeface="Apple SD Gothic Neo"/>
              </a:defRPr>
            </a:pPr>
            <a:r>
              <a:t>Artificial Analysis Intelligence Index (높을수록 우수)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dPt>
            <c:idx val="0"/>
            <c:spPr>
              <a:solidFill>
                <a:srgbClr val="D4774A"/>
              </a:solidFill>
              <a:ln>
                <a:noFill/>
              </a:ln>
            </c:spPr>
          </c:dPt>
          <c:dPt>
            <c:idx val="1"/>
            <c:spPr>
              <a:solidFill>
                <a:srgbClr val="10A37A"/>
              </a:solidFill>
              <a:ln>
                <a:noFill/>
              </a:ln>
            </c:spPr>
          </c:dPt>
          <c:dPt>
            <c:idx val="2"/>
            <c:spPr>
              <a:solidFill>
                <a:srgbClr val="4285F4"/>
              </a:solidFill>
              <a:ln>
                <a:noFill/>
              </a:ln>
            </c:spPr>
          </c:dPt>
          <c:dPt>
            <c:idx val="3"/>
            <c:spPr>
              <a:solidFill>
                <a:srgbClr val="6B7B8C"/>
              </a:solidFill>
              <a:ln>
                <a:noFill/>
              </a:ln>
            </c:spPr>
          </c:dPt>
          <c:cat>
            <c:strRef>
              <c:f>Sheet1!$A$2:$A$5</c:f>
              <c:strCache>
                <c:ptCount val="4"/>
                <c:pt idx="0">
                  <c:v>Claude
Opus 4.8</c:v>
                </c:pt>
                <c:pt idx="1">
                  <c:v>GPT-5.5</c:v>
                </c:pt>
                <c:pt idx="2">
                  <c:v>Gemini
3.1 Pro</c:v>
                </c:pt>
                <c:pt idx="3">
                  <c:v>Grok 4.3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61</c:v>
                </c:pt>
                <c:pt idx="1">
                  <c:v>60</c:v>
                </c:pt>
                <c:pt idx="2">
                  <c:v>57</c:v>
                </c:pt>
                <c:pt idx="3">
                  <c:v>53</c:v>
                </c:pt>
              </c:numCache>
            </c:numRef>
          </c:val>
        </c:ser>
        <c:dLbls>
          <c:numFmt formatCode="0&quot;&quot;" sourceLinked="0"/>
          <c:txPr>
            <a:bodyPr/>
            <a:lstStyle/>
            <a:p>
              <a:pPr>
                <a:defRPr sz="900">
                  <a:latin typeface="Apple SD Gothic Neo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axMin"/>
          <c:max val="70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Apple SD Gothic Ne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Apple SD Gothic Neo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300" b="1">
                <a:solidFill>
                  <a:srgbClr val="142A4A"/>
                </a:solidFill>
                <a:latin typeface="Apple SD Gothic Neo"/>
              </a:defRPr>
            </a:pPr>
            <a:r>
              <a:t>API 출력 단가 ($/1M tokens, 낮을수록 저렴)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dPt>
            <c:idx val="0"/>
            <c:spPr>
              <a:solidFill>
                <a:srgbClr val="D4774A"/>
              </a:solidFill>
              <a:ln>
                <a:noFill/>
              </a:ln>
            </c:spPr>
          </c:dPt>
          <c:dPt>
            <c:idx val="1"/>
            <c:spPr>
              <a:solidFill>
                <a:srgbClr val="10A37A"/>
              </a:solidFill>
              <a:ln>
                <a:noFill/>
              </a:ln>
            </c:spPr>
          </c:dPt>
          <c:dPt>
            <c:idx val="2"/>
            <c:spPr>
              <a:solidFill>
                <a:srgbClr val="4285F4"/>
              </a:solidFill>
              <a:ln>
                <a:noFill/>
              </a:ln>
            </c:spPr>
          </c:dPt>
          <c:dPt>
            <c:idx val="3"/>
            <c:spPr>
              <a:solidFill>
                <a:srgbClr val="6B7B8C"/>
              </a:solidFill>
              <a:ln>
                <a:noFill/>
              </a:ln>
            </c:spPr>
          </c:dPt>
          <c:cat>
            <c:strRef>
              <c:f>Sheet1!$A$2:$A$5</c:f>
              <c:strCache>
                <c:ptCount val="4"/>
                <c:pt idx="0">
                  <c:v>Claude
Opus 4.8</c:v>
                </c:pt>
                <c:pt idx="1">
                  <c:v>GPT-5.5</c:v>
                </c:pt>
                <c:pt idx="2">
                  <c:v>Gemini
3.1 Pro</c:v>
                </c:pt>
                <c:pt idx="3">
                  <c:v>Grok 4.3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25</c:v>
                </c:pt>
                <c:pt idx="1">
                  <c:v>30</c:v>
                </c:pt>
                <c:pt idx="2">
                  <c:v>12</c:v>
                </c:pt>
                <c:pt idx="3">
                  <c:v>2.5</c:v>
                </c:pt>
              </c:numCache>
            </c:numRef>
          </c:val>
        </c:ser>
        <c:dLbls>
          <c:numFmt formatCode="0&quot;&quot;" sourceLinked="0"/>
          <c:txPr>
            <a:bodyPr/>
            <a:lstStyle/>
            <a:p>
              <a:pPr>
                <a:defRPr sz="900">
                  <a:latin typeface="Apple SD Gothic Neo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axMin"/>
          <c:max val="35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Apple SD Gothic Ne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Apple SD Gothic Neo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300" b="1">
                <a:solidFill>
                  <a:srgbClr val="142A4A"/>
                </a:solidFill>
                <a:latin typeface="Apple SD Gothic Neo"/>
              </a:defRPr>
            </a:pPr>
            <a:r>
              <a:t>코딩 벤치마크 점수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SWE-bench Verified</c:v>
                </c:pt>
              </c:strCache>
            </c:strRef>
          </c:tx>
          <c:spPr>
            <a:solidFill>
              <a:srgbClr val="D4774A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Claude
Opus 4.8</c:v>
                </c:pt>
                <c:pt idx="1">
                  <c:v>GPT-5.5</c:v>
                </c:pt>
                <c:pt idx="2">
                  <c:v>Gemini
3.1 Pro</c:v>
                </c:pt>
                <c:pt idx="3">
                  <c:v>Grok 4.3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88.6</c:v>
                </c:pt>
                <c:pt idx="1">
                  <c:v>75.0</c:v>
                </c:pt>
                <c:pt idx="2">
                  <c:v>80.6</c:v>
                </c:pt>
                <c:pt idx="3">
                  <c:v>73.5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SWE-bench Pro</c:v>
                </c:pt>
              </c:strCache>
            </c:strRef>
          </c:tx>
          <c:spPr>
            <a:solidFill>
              <a:srgbClr val="10A37A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Claude
Opus 4.8</c:v>
                </c:pt>
                <c:pt idx="1">
                  <c:v>GPT-5.5</c:v>
                </c:pt>
                <c:pt idx="2">
                  <c:v>Gemini
3.1 Pro</c:v>
                </c:pt>
                <c:pt idx="3">
                  <c:v>Grok 4.3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69.2</c:v>
                </c:pt>
                <c:pt idx="1">
                  <c:v>58.6</c:v>
                </c:pt>
                <c:pt idx="2">
                  <c:v>54.2</c:v>
                </c:pt>
                <c:pt idx="3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Terminal-Bench 2.x</c:v>
                </c:pt>
              </c:strCache>
            </c:strRef>
          </c:tx>
          <c:spPr>
            <a:solidFill>
              <a:srgbClr val="4285F4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Claude
Opus 4.8</c:v>
                </c:pt>
                <c:pt idx="1">
                  <c:v>GPT-5.5</c:v>
                </c:pt>
                <c:pt idx="2">
                  <c:v>Gemini
3.1 Pro</c:v>
                </c:pt>
                <c:pt idx="3">
                  <c:v>Grok 4.3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69.0</c:v>
                </c:pt>
                <c:pt idx="1">
                  <c:v>78.2</c:v>
                </c:pt>
                <c:pt idx="2">
                  <c:v>68.5</c:v>
                </c:pt>
                <c:pt idx="3">
                  <c:v>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Apple SD Gothic Ne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Apple SD Gothic Neo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>
              <a:latin typeface="Apple SD Gothic Neo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300" b="1">
                <a:solidFill>
                  <a:srgbClr val="142A4A"/>
                </a:solidFill>
                <a:latin typeface="Apple SD Gothic Neo"/>
              </a:defRPr>
            </a:pPr>
            <a:r>
              <a:t>추론·과학 벤치마크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GPQA Diamond</c:v>
                </c:pt>
              </c:strCache>
            </c:strRef>
          </c:tx>
          <c:spPr>
            <a:solidFill>
              <a:srgbClr val="D4774A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Claude
Opus 4.8</c:v>
                </c:pt>
                <c:pt idx="1">
                  <c:v>GPT-5.5</c:v>
                </c:pt>
                <c:pt idx="2">
                  <c:v>Gemini
3.1 Pro</c:v>
                </c:pt>
                <c:pt idx="3">
                  <c:v>Grok 4.3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93.6</c:v>
                </c:pt>
                <c:pt idx="1">
                  <c:v>92.0</c:v>
                </c:pt>
                <c:pt idx="2">
                  <c:v>94.3</c:v>
                </c:pt>
                <c:pt idx="3">
                  <c:v>88.0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HLE (no tools)</c:v>
                </c:pt>
              </c:strCache>
            </c:strRef>
          </c:tx>
          <c:spPr>
            <a:solidFill>
              <a:srgbClr val="10A37A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Claude
Opus 4.8</c:v>
                </c:pt>
                <c:pt idx="1">
                  <c:v>GPT-5.5</c:v>
                </c:pt>
                <c:pt idx="2">
                  <c:v>Gemini
3.1 Pro</c:v>
                </c:pt>
                <c:pt idx="3">
                  <c:v>Grok 4.3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49.8</c:v>
                </c:pt>
                <c:pt idx="1">
                  <c:v>41.4</c:v>
                </c:pt>
                <c:pt idx="2">
                  <c:v>44.4</c:v>
                </c:pt>
                <c:pt idx="3">
                  <c:v>50.7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Apple SD Gothic Ne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Apple SD Gothic Neo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>
              <a:latin typeface="Apple SD Gothic Neo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300" b="1">
                <a:solidFill>
                  <a:srgbClr val="142A4A"/>
                </a:solidFill>
                <a:latin typeface="Apple SD Gothic Neo"/>
              </a:defRPr>
            </a:pPr>
            <a:r>
              <a:t>에이전트 GDPval-AA (Elo, 높을수록 우수)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dPt>
            <c:idx val="0"/>
            <c:spPr>
              <a:solidFill>
                <a:srgbClr val="D4774A"/>
              </a:solidFill>
              <a:ln>
                <a:noFill/>
              </a:ln>
            </c:spPr>
          </c:dPt>
          <c:dPt>
            <c:idx val="1"/>
            <c:spPr>
              <a:solidFill>
                <a:srgbClr val="10A37A"/>
              </a:solidFill>
              <a:ln>
                <a:noFill/>
              </a:ln>
            </c:spPr>
          </c:dPt>
          <c:dPt>
            <c:idx val="2"/>
            <c:spPr>
              <a:solidFill>
                <a:srgbClr val="4285F4"/>
              </a:solidFill>
              <a:ln>
                <a:noFill/>
              </a:ln>
            </c:spPr>
          </c:dPt>
          <c:dPt>
            <c:idx val="3"/>
            <c:spPr>
              <a:solidFill>
                <a:srgbClr val="6B7B8C"/>
              </a:solidFill>
              <a:ln>
                <a:noFill/>
              </a:ln>
            </c:spPr>
          </c:dPt>
          <c:cat>
            <c:strRef>
              <c:f>Sheet1!$A$2:$A$5</c:f>
              <c:strCache>
                <c:ptCount val="4"/>
                <c:pt idx="0">
                  <c:v>Claude
Opus 4.8</c:v>
                </c:pt>
                <c:pt idx="1">
                  <c:v>GPT-5.5</c:v>
                </c:pt>
                <c:pt idx="2">
                  <c:v>Gemini
3.1 Pro</c:v>
                </c:pt>
                <c:pt idx="3">
                  <c:v>Grok 4.3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1500</c:v>
                </c:pt>
                <c:pt idx="1">
                  <c:v>1400</c:v>
                </c:pt>
                <c:pt idx="2">
                  <c:v>1317</c:v>
                </c:pt>
                <c:pt idx="3">
                  <c:v>1500</c:v>
                </c:pt>
              </c:numCache>
            </c:numRef>
          </c:val>
        </c:ser>
        <c:dLbls>
          <c:numFmt formatCode="0&quot;&quot;" sourceLinked="0"/>
          <c:txPr>
            <a:bodyPr/>
            <a:lstStyle/>
            <a:p>
              <a:pPr>
                <a:defRPr sz="900">
                  <a:latin typeface="Apple SD Gothic Neo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axMin"/>
          <c:max val="1600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Apple SD Gothic Ne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Apple SD Gothic Neo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300" b="1">
                <a:solidFill>
                  <a:srgbClr val="142A4A"/>
                </a:solidFill>
                <a:latin typeface="Apple SD Gothic Neo"/>
              </a:defRPr>
            </a:pPr>
            <a:r>
              <a:t>성능 · 비용 효율 (0~100, 높을수록 유리)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성능 (AA Index, 정규화)</c:v>
                </c:pt>
              </c:strCache>
            </c:strRef>
          </c:tx>
          <c:spPr>
            <a:solidFill>
              <a:srgbClr val="D4774A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Claude
Opus 4.8</c:v>
                </c:pt>
                <c:pt idx="1">
                  <c:v>GPT-5.5</c:v>
                </c:pt>
                <c:pt idx="2">
                  <c:v>Gemini
3.1 Pro</c:v>
                </c:pt>
                <c:pt idx="3">
                  <c:v>Grok 4.3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87.14285714285714</c:v>
                </c:pt>
                <c:pt idx="1">
                  <c:v>85.71428571428571</c:v>
                </c:pt>
                <c:pt idx="2">
                  <c:v>81.42857142857143</c:v>
                </c:pt>
                <c:pt idx="3">
                  <c:v>75.71428571428571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비용 효율 (출력가 역산, 정규화)</c:v>
                </c:pt>
              </c:strCache>
            </c:strRef>
          </c:tx>
          <c:spPr>
            <a:solidFill>
              <a:srgbClr val="10A37A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Claude
Opus 4.8</c:v>
                </c:pt>
                <c:pt idx="1">
                  <c:v>GPT-5.5</c:v>
                </c:pt>
                <c:pt idx="2">
                  <c:v>Gemini
3.1 Pro</c:v>
                </c:pt>
                <c:pt idx="3">
                  <c:v>Grok 4.3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16.666666666666664</c:v>
                </c:pt>
                <c:pt idx="1">
                  <c:v>0.0</c:v>
                </c:pt>
                <c:pt idx="2">
                  <c:v>60.0</c:v>
                </c:pt>
                <c:pt idx="3">
                  <c:v>91.66666666666666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Apple SD Gothic Neo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Apple SD Gothic Neo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>
              <a:latin typeface="Apple SD Gothic Neo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Relationship Id="rId3" Type="http://schemas.openxmlformats.org/officeDocument/2006/relationships/chart" Target="../charts/char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1874519"/>
            <a:ext cx="10607040" cy="12801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pple SD Gothic Neo"/>
              </a:rPr>
              <a:t>외부 AI 4종 벤치마크 비교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6968" y="2971800"/>
            <a:ext cx="1060704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900" b="1">
                <a:solidFill>
                  <a:srgbClr val="9FC4E8"/>
                </a:solidFill>
                <a:latin typeface="Apple SD Gothic Neo"/>
              </a:rPr>
              <a:t>Claude  ·  ChatGPT  ·  Gemini  ·  Grok  (그래프 중심 요약)</a:t>
            </a:r>
          </a:p>
        </p:txBody>
      </p:sp>
      <p:sp>
        <p:nvSpPr>
          <p:cNvPr id="4" name="Rectangle 3"/>
          <p:cNvSpPr/>
          <p:nvPr/>
        </p:nvSpPr>
        <p:spPr>
          <a:xfrm>
            <a:off x="886968" y="3657600"/>
            <a:ext cx="4206240" cy="508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86968" y="3950208"/>
            <a:ext cx="10607040" cy="10058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500" b="0">
                <a:solidFill>
                  <a:srgbClr val="C9D8EA"/>
                </a:solidFill>
                <a:latin typeface="Apple SD Gothic Neo"/>
              </a:rPr>
              <a:t>NC HW 개발팀  |  2026년 6월  |  임원 보고용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8A929E"/>
                </a:solidFill>
                <a:latin typeface="Apple SD Gothic Neo"/>
              </a:rPr>
              <a:t>출처: 공식 Model Card + Artificial Analysis 독립 집계 교차검증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(1/6)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FC4E8"/>
                </a:solidFill>
                <a:latin typeface="Apple SD Gothic Neo"/>
              </a:rPr>
              <a:t>NC HW 개발팀  |  외부 AI 4종 벤치마크 비교 (2026.6)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Apple SD Gothic Neo"/>
              </a:rPr>
              <a:t>[방식 A] 종합 비교 — 지능지수 · API 비용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42415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막대가 길수록 우수(지능지수) / 비용 차트는 짧을수록 저렴(출력 $/1M tokens)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53312"/>
            <a:ext cx="164592" cy="164592"/>
          </a:xfrm>
          <a:prstGeom prst="rect">
            <a:avLst/>
          </a:prstGeom>
          <a:solidFill>
            <a:srgbClr val="D47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6656" y="1340612"/>
            <a:ext cx="1417320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50" b="0">
                <a:solidFill>
                  <a:srgbClr val="444A55"/>
                </a:solidFill>
                <a:latin typeface="Apple SD Gothic Neo"/>
              </a:rPr>
              <a:t>Claude Opus 4.8</a:t>
            </a:r>
          </a:p>
        </p:txBody>
      </p:sp>
      <p:sp>
        <p:nvSpPr>
          <p:cNvPr id="9" name="Rectangle 8"/>
          <p:cNvSpPr/>
          <p:nvPr/>
        </p:nvSpPr>
        <p:spPr>
          <a:xfrm>
            <a:off x="2148840" y="1353312"/>
            <a:ext cx="164592" cy="164592"/>
          </a:xfrm>
          <a:prstGeom prst="rect">
            <a:avLst/>
          </a:prstGeom>
          <a:solidFill>
            <a:srgbClr val="10A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68296" y="1340612"/>
            <a:ext cx="1417320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50" b="0">
                <a:solidFill>
                  <a:srgbClr val="444A55"/>
                </a:solidFill>
                <a:latin typeface="Apple SD Gothic Neo"/>
              </a:rPr>
              <a:t>GPT-5.5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0" y="1353312"/>
            <a:ext cx="164592" cy="164592"/>
          </a:xfrm>
          <a:prstGeom prst="rect">
            <a:avLst/>
          </a:prstGeom>
          <a:solidFill>
            <a:srgbClr val="428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059936" y="1340612"/>
            <a:ext cx="1417320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50" b="0">
                <a:solidFill>
                  <a:srgbClr val="444A55"/>
                </a:solidFill>
                <a:latin typeface="Apple SD Gothic Neo"/>
              </a:rPr>
              <a:t>Gemini 3.1 Pro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532120" y="1353312"/>
            <a:ext cx="164592" cy="164592"/>
          </a:xfrm>
          <a:prstGeom prst="rect">
            <a:avLst/>
          </a:prstGeom>
          <a:solidFill>
            <a:srgbClr val="6B7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51576" y="1340612"/>
            <a:ext cx="1417320" cy="20116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50" b="0">
                <a:solidFill>
                  <a:srgbClr val="444A55"/>
                </a:solidFill>
                <a:latin typeface="Apple SD Gothic Neo"/>
              </a:rPr>
              <a:t>Grok 4.3</a:t>
            </a:r>
          </a:p>
        </p:txBody>
      </p:sp>
      <p:graphicFrame>
        <p:nvGraphicFramePr>
          <p:cNvPr id="15" name="Chart 14"/>
          <p:cNvGraphicFramePr>
            <a:graphicFrameLocks noGrp="1"/>
          </p:cNvGraphicFramePr>
          <p:nvPr/>
        </p:nvGraphicFramePr>
        <p:xfrm>
          <a:off x="411480" y="1627632"/>
          <a:ext cx="5440680" cy="4160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6" name="Chart 15"/>
          <p:cNvGraphicFramePr>
            <a:graphicFrameLocks noGrp="1"/>
          </p:cNvGraphicFramePr>
          <p:nvPr/>
        </p:nvGraphicFramePr>
        <p:xfrm>
          <a:off x="6263640" y="1627632"/>
          <a:ext cx="5440680" cy="41605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7" name="Rounded Rectangle 16"/>
          <p:cNvSpPr/>
          <p:nvPr/>
        </p:nvSpPr>
        <p:spPr>
          <a:xfrm>
            <a:off x="457200" y="5870448"/>
            <a:ext cx="11292840" cy="749808"/>
          </a:xfrm>
          <a:prstGeom prst="round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5870448"/>
            <a:ext cx="10890504" cy="74980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4000"/>
              </a:lnSpc>
              <a:spcAft>
                <a:spcPts val="200"/>
              </a:spcAft>
            </a:pPr>
            <a:r>
              <a:rPr sz="1250" b="1">
                <a:solidFill>
                  <a:srgbClr val="9FC4E8"/>
                </a:solidFill>
                <a:latin typeface="Apple SD Gothic Neo"/>
              </a:rPr>
              <a:t>한눈에 보기</a:t>
            </a:r>
          </a:p>
          <a:p>
            <a:pPr algn="l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pple SD Gothic Neo"/>
              </a:rPr>
              <a:t>상위 3종(Claude·GPT·Gemini) 지능지수 57~61 — 성능 격차 작음</a:t>
            </a:r>
          </a:p>
          <a:p>
            <a:pPr algn="l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pple SD Gothic Neo"/>
              </a:rPr>
              <a:t>Grok은 지능지수 53이나 출력가 $2.50/1M — 대량·저비용 작업에 유리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(2/6)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FC4E8"/>
                </a:solidFill>
                <a:latin typeface="Apple SD Gothic Neo"/>
              </a:rPr>
              <a:t>NC HW 개발팀  |  외부 AI 4종 벤치마크 비교 (2026.6)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Apple SD Gothic Neo"/>
              </a:rPr>
              <a:t>[방식 B-1] 코딩 역량 — SWE-bench · Terminal-Bench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42415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실제 소프트웨어·터미널 작업 해결률(%). * GPT SWE Verified·Grok SWE는 근사치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417320"/>
          <a:ext cx="11247120" cy="4434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457200" y="5961888"/>
            <a:ext cx="11292840" cy="658368"/>
          </a:xfrm>
          <a:prstGeom prst="round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5961888"/>
            <a:ext cx="10890504" cy="65836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4000"/>
              </a:lnSpc>
              <a:spcAft>
                <a:spcPts val="200"/>
              </a:spcAft>
            </a:pPr>
            <a:r>
              <a:rPr sz="1250" b="1">
                <a:solidFill>
                  <a:srgbClr val="9FC4E8"/>
                </a:solidFill>
                <a:latin typeface="Apple SD Gothic Neo"/>
              </a:rPr>
              <a:t>코딩 우위</a:t>
            </a:r>
          </a:p>
          <a:p>
            <a:pPr algn="l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pple SD Gothic Neo"/>
              </a:rPr>
              <a:t>SWE-bench(일반 코딩): Claude 1위  |  Terminal-Bench(터미널): GPT 1위</a:t>
            </a:r>
          </a:p>
          <a:p>
            <a:pPr algn="l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pple SD Gothic Neo"/>
              </a:rPr>
              <a:t>Grok·SWE Pro 미공개 구간은 차트에서 0 처리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(3/6)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FC4E8"/>
                </a:solidFill>
                <a:latin typeface="Apple SD Gothic Neo"/>
              </a:rPr>
              <a:t>NC HW 개발팀  |  외부 AI 4종 벤치마크 비교 (2026.6)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Apple SD Gothic Neo"/>
              </a:rPr>
              <a:t>[방식 B-2] 추론 · 과학 지식 — GPQA · HLE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42415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GPQA는 상위권 포화(90%대) → HLE(최난도)가 실질 변별 지표. * Grok HLE 근사치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417320"/>
          <a:ext cx="7132320" cy="4434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818120" y="1417320"/>
          <a:ext cx="3886200" cy="44348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457200" y="5961888"/>
            <a:ext cx="11292840" cy="658368"/>
          </a:xfrm>
          <a:prstGeom prst="round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5961888"/>
            <a:ext cx="10890504" cy="65836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4000"/>
              </a:lnSpc>
              <a:spcAft>
                <a:spcPts val="200"/>
              </a:spcAft>
            </a:pPr>
            <a:r>
              <a:rPr sz="1250" b="1">
                <a:solidFill>
                  <a:srgbClr val="9FC4E8"/>
                </a:solidFill>
                <a:latin typeface="Apple SD Gothic Neo"/>
              </a:rPr>
              <a:t>추론·에이전트</a:t>
            </a:r>
          </a:p>
          <a:p>
            <a:pPr algn="l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pple SD Gothic Neo"/>
              </a:rPr>
              <a:t>과학(GPQA): Gemini 1위  |  최난도 추론(HLE): Grok·Claude 상위</a:t>
            </a:r>
          </a:p>
          <a:p>
            <a:pPr algn="l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pple SD Gothic Neo"/>
              </a:rPr>
              <a:t>에이전트(GDPval): Grok 1500 Elo — 저비용 다단계 작업 강점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(4/6)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FC4E8"/>
                </a:solidFill>
                <a:latin typeface="Apple SD Gothic Neo"/>
              </a:rPr>
              <a:t>NC HW 개발팀  |  외부 AI 4종 벤치마크 비교 (2026.6)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Apple SD Gothic Neo"/>
              </a:rPr>
              <a:t>성능 vs 비용 — 도입 관점 요약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42415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>
                <a:solidFill>
                  <a:srgbClr val="444A55"/>
                </a:solidFill>
                <a:latin typeface="Apple SD Gothic Neo"/>
              </a:rPr>
              <a:t>종합 지능지수(성능)와 출력 API 단가(비용)를 동일 축에서 비교 — 우상단=고성능·고비용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417320"/>
          <a:ext cx="6858000" cy="44805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635240" y="1572768"/>
            <a:ext cx="2148840" cy="1965960"/>
          </a:xfrm>
          <a:prstGeom prst="roundRect">
            <a:avLst/>
          </a:prstGeom>
          <a:solidFill>
            <a:srgbClr val="E8F1FA"/>
          </a:solidFill>
          <a:ln w="25400">
            <a:solidFill>
              <a:srgbClr val="D477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0" y="1709928"/>
            <a:ext cx="502920" cy="50800"/>
          </a:xfrm>
          <a:prstGeom prst="rect">
            <a:avLst/>
          </a:prstGeom>
          <a:solidFill>
            <a:srgbClr val="D47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0" y="1828800"/>
            <a:ext cx="1874519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142A4A"/>
                </a:solidFill>
                <a:latin typeface="Apple SD Gothic Neo"/>
              </a:rPr>
              <a:t>Claude Opus 4.8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2231136"/>
            <a:ext cx="1874519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00" b="1">
                <a:solidFill>
                  <a:srgbClr val="444A55"/>
                </a:solidFill>
                <a:latin typeface="Apple SD Gothic Neo"/>
              </a:rPr>
              <a:t>코딩·에이전트
최상위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00" b="0">
                <a:solidFill>
                  <a:srgbClr val="D4774A"/>
                </a:solidFill>
                <a:latin typeface="Apple SD Gothic Neo"/>
              </a:rPr>
              <a:t>고성능·고비용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966960" y="1572768"/>
            <a:ext cx="2148840" cy="1965960"/>
          </a:xfrm>
          <a:prstGeom prst="roundRect">
            <a:avLst/>
          </a:prstGeom>
          <a:solidFill>
            <a:srgbClr val="E8F1FA"/>
          </a:solidFill>
          <a:ln w="25400">
            <a:solidFill>
              <a:srgbClr val="10A3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104120" y="1709928"/>
            <a:ext cx="502920" cy="50800"/>
          </a:xfrm>
          <a:prstGeom prst="rect">
            <a:avLst/>
          </a:prstGeom>
          <a:solidFill>
            <a:srgbClr val="10A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104120" y="1828800"/>
            <a:ext cx="1874519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142A4A"/>
                </a:solidFill>
                <a:latin typeface="Apple SD Gothic Neo"/>
              </a:rPr>
              <a:t>GPT-5.5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04120" y="2231136"/>
            <a:ext cx="1874519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00" b="1">
                <a:solidFill>
                  <a:srgbClr val="444A55"/>
                </a:solidFill>
                <a:latin typeface="Apple SD Gothic Neo"/>
              </a:rPr>
              <a:t>터미널·범용
코딩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00" b="0">
                <a:solidFill>
                  <a:srgbClr val="10A37A"/>
                </a:solidFill>
                <a:latin typeface="Apple SD Gothic Neo"/>
              </a:rPr>
              <a:t>고성능·최고비용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635240" y="3813048"/>
            <a:ext cx="2148840" cy="1965960"/>
          </a:xfrm>
          <a:prstGeom prst="roundRect">
            <a:avLst/>
          </a:prstGeom>
          <a:solidFill>
            <a:srgbClr val="E8F1FA"/>
          </a:solidFill>
          <a:ln w="25400">
            <a:solidFill>
              <a:srgbClr val="4285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0" y="3950208"/>
            <a:ext cx="502920" cy="50800"/>
          </a:xfrm>
          <a:prstGeom prst="rect">
            <a:avLst/>
          </a:prstGeom>
          <a:solidFill>
            <a:srgbClr val="4285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0" y="4069080"/>
            <a:ext cx="1874519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142A4A"/>
                </a:solidFill>
                <a:latin typeface="Apple SD Gothic Neo"/>
              </a:rPr>
              <a:t>Gemini 3.1 Pro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0" y="4471416"/>
            <a:ext cx="1874519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00" b="1">
                <a:solidFill>
                  <a:srgbClr val="444A55"/>
                </a:solidFill>
                <a:latin typeface="Apple SD Gothic Neo"/>
              </a:rPr>
              <a:t>과학추론·
가성비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00" b="0">
                <a:solidFill>
                  <a:srgbClr val="4285F4"/>
                </a:solidFill>
                <a:latin typeface="Apple SD Gothic Neo"/>
              </a:rPr>
              <a:t>중간성능·중간비용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966960" y="3813048"/>
            <a:ext cx="2148840" cy="1965960"/>
          </a:xfrm>
          <a:prstGeom prst="roundRect">
            <a:avLst/>
          </a:prstGeom>
          <a:solidFill>
            <a:srgbClr val="E8F1FA"/>
          </a:solidFill>
          <a:ln w="25400">
            <a:solidFill>
              <a:srgbClr val="6B7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104120" y="3950208"/>
            <a:ext cx="502920" cy="50800"/>
          </a:xfrm>
          <a:prstGeom prst="rect">
            <a:avLst/>
          </a:prstGeom>
          <a:solidFill>
            <a:srgbClr val="6B7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04120" y="4069080"/>
            <a:ext cx="1874519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>
                <a:solidFill>
                  <a:srgbClr val="142A4A"/>
                </a:solidFill>
                <a:latin typeface="Apple SD Gothic Neo"/>
              </a:rPr>
              <a:t>Grok 4.3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04120" y="4471416"/>
            <a:ext cx="1874519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00" b="1">
                <a:solidFill>
                  <a:srgbClr val="444A55"/>
                </a:solidFill>
                <a:latin typeface="Apple SD Gothic Neo"/>
              </a:rPr>
              <a:t>저비용
에이전트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000" b="0">
                <a:solidFill>
                  <a:srgbClr val="6B7B8C"/>
                </a:solidFill>
                <a:latin typeface="Apple SD Gothic Neo"/>
              </a:rPr>
              <a:t>준수능·초저비용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5961888"/>
            <a:ext cx="11292840" cy="658368"/>
          </a:xfrm>
          <a:prstGeom prst="round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5961888"/>
            <a:ext cx="10890504" cy="65836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4000"/>
              </a:lnSpc>
              <a:spcAft>
                <a:spcPts val="200"/>
              </a:spcAft>
            </a:pPr>
            <a:r>
              <a:rPr sz="1250" b="1">
                <a:solidFill>
                  <a:srgbClr val="9FC4E8"/>
                </a:solidFill>
                <a:latin typeface="Apple SD Gothic Neo"/>
              </a:rPr>
              <a:t>도입 시사점</a:t>
            </a:r>
          </a:p>
          <a:p>
            <a:pPr algn="l">
              <a:lnSpc>
                <a:spcPct val="114000"/>
              </a:lnSpc>
              <a:spcAft>
                <a:spcPts val="200"/>
              </a:spcAft>
            </a:pPr>
            <a:r>
              <a:rPr sz="1100" b="0">
                <a:solidFill>
                  <a:srgbClr val="FFFFFF"/>
                </a:solidFill>
                <a:latin typeface="Apple SD Gothic Neo"/>
              </a:rPr>
              <a:t>코딩 중심 → Claude  |  터미널·OpenAI 생태계 → GPT  |  가성비 → Gemini  |  대량 에이전트 → Grok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(5/6)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4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2191695" cy="38100"/>
          </a:xfrm>
          <a:prstGeom prst="rect">
            <a:avLst/>
          </a:prstGeom>
          <a:solidFill>
            <a:srgbClr val="F27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"/>
            <a:ext cx="109728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>
                <a:solidFill>
                  <a:srgbClr val="9FC4E8"/>
                </a:solidFill>
                <a:latin typeface="Apple SD Gothic Neo"/>
              </a:rPr>
              <a:t>NC HW 개발팀  |  외부 AI 4종 벤치마크 비교 (2026.6)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65760"/>
            <a:ext cx="1115568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>
                <a:solidFill>
                  <a:srgbClr val="FFFFFF"/>
                </a:solidFill>
                <a:latin typeface="Apple SD Gothic Neo"/>
              </a:rPr>
              <a:t>출처 및 검증 방법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17320"/>
            <a:ext cx="10972800" cy="20116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400" b="1">
                <a:solidFill>
                  <a:srgbClr val="142A4A"/>
                </a:solidFill>
                <a:latin typeface="Apple SD Gothic Neo"/>
              </a:rPr>
              <a:t>1차 — 공식 Model / System Card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Anthropic Claude Opus 4.8  ·  OpenAI GPT-5.5  ·  Google Gemini 3.1 Pro  ·  xAI Grok 4.3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600" b="0">
                <a:solidFill>
                  <a:srgbClr val="444A55"/>
                </a:solidFill>
                <a:latin typeface="Apple SD Gothic Neo"/>
              </a:rPr>
              <a:t/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400" b="1">
                <a:solidFill>
                  <a:srgbClr val="142A4A"/>
                </a:solidFill>
                <a:latin typeface="Apple SD Gothic Neo"/>
              </a:rPr>
              <a:t>2차 — 독립 집계 (벤더 중립)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50" b="0">
                <a:solidFill>
                  <a:srgbClr val="444A55"/>
                </a:solidFill>
                <a:latin typeface="Apple SD Gothic Neo"/>
              </a:rPr>
              <a:t>Artificial Analysis Intelligence Index  ·  Vellum  ·  LMArena  ·  Stanford HELM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600" b="0">
                <a:solidFill>
                  <a:srgbClr val="444A55"/>
                </a:solidFill>
                <a:latin typeface="Apple SD Gothic Neo"/>
              </a:rPr>
              <a:t/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100" b="1">
                <a:solidFill>
                  <a:srgbClr val="F27E2E"/>
                </a:solidFill>
                <a:latin typeface="Apple SD Gothic Neo"/>
              </a:rPr>
              <a:t>유의: 공식 수치는 self-reported · harness 차이로 직접 비교 주의 · * 근사치 별도 표기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6492240"/>
            <a:ext cx="73152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1000" b="0">
                <a:solidFill>
                  <a:srgbClr val="8A929E"/>
                </a:solidFill>
                <a:latin typeface="Apple SD Gothic Neo"/>
              </a:rPr>
              <a:t>(6/6)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