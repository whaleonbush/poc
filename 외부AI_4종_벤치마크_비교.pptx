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42A4A"/>
                </a:solidFill>
                <a:latin typeface="Apple SD Gothic Neo"/>
              </a:defRPr>
            </a:pPr>
            <a:r>
              <a:t>영역별 평균 점수 — 어디가 강한지 큰 그림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1F6FB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코딩
(평균)</c:v>
                </c:pt>
                <c:pt idx="1">
                  <c:v>추론
(평균)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82.5</c:v>
                </c:pt>
                <c:pt idx="1">
                  <c:v>61.3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</c:v>
                </c:pt>
              </c:strCache>
            </c:strRef>
          </c:tx>
          <c:spPr>
            <a:solidFill>
              <a:srgbClr val="D4774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코딩
(평균)</c:v>
                </c:pt>
                <c:pt idx="1">
                  <c:v>추론
(평균)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77.5</c:v>
                </c:pt>
                <c:pt idx="1">
                  <c:v>55.5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</c:v>
                </c:pt>
              </c:strCache>
            </c:strRef>
          </c:tx>
          <c:spPr>
            <a:solidFill>
              <a:srgbClr val="F27E2E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코딩
(평균)</c:v>
                </c:pt>
                <c:pt idx="1">
                  <c:v>추론
(평균)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75.0</c:v>
                </c:pt>
                <c:pt idx="1">
                  <c:v>58.8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Grok</c:v>
                </c:pt>
              </c:strCache>
            </c:strRef>
          </c:tx>
          <c:spPr>
            <a:solidFill>
              <a:srgbClr val="10A37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코딩
(평균)</c:v>
                </c:pt>
                <c:pt idx="1">
                  <c:v>추론
(평균)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73.5</c:v>
                </c:pt>
                <c:pt idx="1">
                  <c:v>52.4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Apple SD Gothic Ne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SWE-bench Verified (보통 난이도)</a:t>
            </a:r>
          </a:p>
          <a:p>
            <a:r>
              <a:t>버그 고치기 성공률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dPt>
            <c:idx val="3"/>
            <c:spPr>
              <a:solidFill>
                <a:srgbClr val="6B7B8C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88.6</c:v>
                </c:pt>
                <c:pt idx="1">
                  <c:v>75.0</c:v>
                </c:pt>
                <c:pt idx="2">
                  <c:v>80.6</c:v>
                </c:pt>
                <c:pt idx="3">
                  <c:v>73.5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SWE-bench Pro (어려운 버전)</a:t>
            </a:r>
          </a:p>
          <a:p>
            <a:r>
              <a:t>Grok 미공개 — 3종만 비교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69.2</c:v>
                </c:pt>
                <c:pt idx="1">
                  <c:v>58.6</c:v>
                </c:pt>
                <c:pt idx="2">
                  <c:v>54.2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Terminal-Bench 2.1 (터미널·명령어)</a:t>
            </a:r>
          </a:p>
          <a:p>
            <a:r>
              <a:t>긴 명령 작업 성공률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78.2</c:v>
                </c:pt>
                <c:pt idx="2">
                  <c:v>70.3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OSWorld-Verified (PC 직접 조작)</a:t>
            </a:r>
          </a:p>
          <a:p>
            <a:r>
              <a:t>Gemini·Grok * 근사치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83.4</c:v>
                </c:pt>
                <c:pt idx="1">
                  <c:v>78.7</c:v>
                </c:pt>
                <c:pt idx="2">
                  <c:v>75.0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GPQA Diamond (대학원 과학 퀴즈)</a:t>
            </a:r>
          </a:p>
          <a:p>
            <a:r>
              <a:t>정답률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dPt>
            <c:idx val="3"/>
            <c:spPr>
              <a:solidFill>
                <a:srgbClr val="6B7B8C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93.6</c:v>
                </c:pt>
                <c:pt idx="1">
                  <c:v>92.0</c:v>
                </c:pt>
                <c:pt idx="2">
                  <c:v>94.3</c:v>
                </c:pt>
                <c:pt idx="3">
                  <c:v>88.0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HLE — 도구 없이 혼자 풀기</a:t>
            </a:r>
          </a:p>
          <a:p>
            <a:r>
              <a:t>* Grok 근사치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dPt>
            <c:idx val="3"/>
            <c:spPr>
              <a:solidFill>
                <a:srgbClr val="6B7B8C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49.8</c:v>
                </c:pt>
                <c:pt idx="1">
                  <c:v>41.4</c:v>
                </c:pt>
                <c:pt idx="2">
                  <c:v>44.4</c:v>
                </c:pt>
                <c:pt idx="3">
                  <c:v>50.7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42A4A"/>
                </a:solidFill>
                <a:latin typeface="Apple SD Gothic Neo"/>
              </a:defRPr>
            </a:pPr>
            <a:r>
              <a:t>수학 시험 3종 비교 — 막대가 길수록 정답률 높음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MATH-500 (기본~중급)</c:v>
                </c:pt>
              </c:strCache>
            </c:strRef>
          </c:tx>
          <c:spPr>
            <a:solidFill>
              <a:srgbClr val="1F6FB2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96.1</c:v>
                </c:pt>
                <c:pt idx="1">
                  <c:v>97.0</c:v>
                </c:pt>
                <c:pt idx="2">
                  <c:v>95.6</c:v>
                </c:pt>
                <c:pt idx="3">
                  <c:v>94.0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AIME 2026 (올림피아드급)</c:v>
                </c:pt>
              </c:strCache>
            </c:strRef>
          </c:tx>
          <c:spPr>
            <a:solidFill>
              <a:srgbClr val="D4774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95.0</c:v>
                </c:pt>
                <c:pt idx="1">
                  <c:v>97.0</c:v>
                </c:pt>
                <c:pt idx="2">
                  <c:v>96.0</c:v>
                </c:pt>
                <c:pt idx="3">
                  <c:v>96.0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FrontierMath (최고난도)</c:v>
                </c:pt>
              </c:strCache>
            </c:strRef>
          </c:tx>
          <c:spPr>
            <a:solidFill>
              <a:srgbClr val="F27E2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  <c:pt idx="3">
                  <c:v>Grok 4.3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49.0</c:v>
                </c:pt>
                <c:pt idx="1">
                  <c:v>53.0</c:v>
                </c:pt>
                <c:pt idx="2">
                  <c:v>51.0</c:v>
                </c:pt>
                <c:pt idx="3">
                  <c:v>54.0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latin typeface="Apple SD Gothic Ne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50" b="1">
                <a:solidFill>
                  <a:srgbClr val="142A4A"/>
                </a:solidFill>
                <a:latin typeface="Apple SD Gothic Neo"/>
              </a:defRPr>
            </a:pPr>
            <a:r>
              <a:t>HLE — 검색·계산 도구 사용 가능</a:t>
            </a:r>
          </a:p>
          <a:p>
            <a:r>
              <a:t>도구 쓰면 점수 상승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4774A"/>
              </a:solidFill>
              <a:ln>
                <a:noFill/>
              </a:ln>
            </c:spPr>
          </c:dPt>
          <c:dPt>
            <c:idx val="1"/>
            <c:spPr>
              <a:solidFill>
                <a:srgbClr val="10A37A"/>
              </a:solidFill>
              <a:ln>
                <a:noFill/>
              </a:ln>
            </c:spPr>
          </c:dPt>
          <c:dPt>
            <c:idx val="2"/>
            <c:spPr>
              <a:solidFill>
                <a:srgbClr val="4285F4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Claude
Opus 4.8</c:v>
                </c:pt>
                <c:pt idx="1">
                  <c:v>GPT-5.5</c:v>
                </c:pt>
                <c:pt idx="2">
                  <c:v>Gemini
3.1 Pro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57.9</c:v>
                </c:pt>
                <c:pt idx="1">
                  <c:v>52.2</c:v>
                </c:pt>
                <c:pt idx="2">
                  <c:v>51.4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ple SD Gothic Ne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82880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AI 코딩·추론 실력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2880360"/>
            <a:ext cx="106070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9FC4E8"/>
                </a:solidFill>
                <a:latin typeface="Apple SD Gothic Neo"/>
              </a:rPr>
              <a:t>Claude · ChatGPT · Gemini · Grok — 시험 점수로 보는 그래프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3520440"/>
            <a:ext cx="4206240" cy="508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379476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C9D8EA"/>
                </a:solidFill>
                <a:latin typeface="Apple SD Gothic Neo"/>
              </a:rPr>
              <a:t>NC HW 개발팀  |  2026년 6월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8A929E"/>
                </a:solidFill>
                <a:latin typeface="Apple SD Gothic Neo"/>
              </a:rPr>
              <a:t>막대가 길수록 = 시험을 더 많이 맞힘 (100%가 만점)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(1/8)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먼저 알아두기 — '벤치마크'가 뭐예요?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벤치마크 = AI에게 내리는 표준 시험. 점수가 높을수록 그 종류 문제를 잘 푼다는 뜻입니다.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5486400" cy="86868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411480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266944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142A4A"/>
                </a:solidFill>
                <a:latin typeface="Apple SD Gothic Neo"/>
              </a:rPr>
              <a:t>코딩 시험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프로그램 버그 고치기, 터미널 명령, 컴퓨터 조작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44752"/>
            <a:ext cx="5486400" cy="86868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8" y="1554480"/>
            <a:ext cx="411480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45920"/>
            <a:ext cx="5266944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142A4A"/>
                </a:solidFill>
                <a:latin typeface="Apple SD Gothic Neo"/>
              </a:rPr>
              <a:t>추론 시험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어려운 생각, 과학·수학 문제 풀기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146304" cy="146304"/>
          </a:xfrm>
          <a:prstGeom prst="rect">
            <a:avLst/>
          </a:prstGeom>
          <a:solidFill>
            <a:srgbClr val="D47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74468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Claude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487168"/>
            <a:ext cx="146304" cy="146304"/>
          </a:xfrm>
          <a:prstGeom prst="rect">
            <a:avLst/>
          </a:prstGeom>
          <a:solidFill>
            <a:srgbClr val="10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2474468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GPT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487168"/>
            <a:ext cx="146304" cy="146304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474468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Gemini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487168"/>
            <a:ext cx="146304" cy="146304"/>
          </a:xfrm>
          <a:prstGeom prst="rect">
            <a:avLst/>
          </a:prstGeom>
          <a:solidFill>
            <a:srgbClr val="6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474468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Grok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1247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A929E"/>
                </a:solidFill>
                <a:latin typeface="Apple SD Gothic Neo"/>
              </a:rPr>
              <a:t>아래 그래프는 같은 시험을 4개 AI가 친 점수입니다. (* 표시는 공식 미공개 → 근사치)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3127248"/>
          <a:ext cx="112471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57200" y="5650992"/>
            <a:ext cx="11292840" cy="804672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50992"/>
            <a:ext cx="1092708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쉽게 말하면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코딩 = 코드·명령어 잘 다루는지  |  추론 = 머리 쓰는 문제·수학·과학 잘 푸는지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한 AI가 모든 시험 1등은 아님 → 우리 팀 업무에 맞는 시험 점수를 보면 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(2/8)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코딩 ① — 실제 프로그램 고치기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SWE-bench = GitHub에 올라온 진짜 버그를 AI가 고칠 수 있는지 보는 시험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Verified = 보통 난이도  |  Pro = 더 어려운 버전 (실무에 더 가까움)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074920"/>
            <a:ext cx="11292840" cy="9601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270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코딩 ① 결론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보통·어려운 버그 고치기 모두 Claude 1위 (88.6% → 69.2%)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GPT·Gemini도 50% 넘음 = 쓸 만한 수준  |  실무 코드 수정은 Claude가 가장 유리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(3/8)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코딩 ② — 터미널·컴퓨터 직접 조작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Terminal-Bench = 명령어(터미널)로 서버·스크립트 조작 시험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OSWorld = 마우스·키보드로 PC 화면을 직접 조작하는 시험 (자동화·RPA)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074920"/>
            <a:ext cx="11292840" cy="9601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270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코딩 ② 결론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명령어·스크립트 작업 → GPT 1위 (78.2%)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PC 화면 직접 조작 → Claude 1위 (83.4%)  |  HW팀: 터미널·자동화는 GPT, GUI 작업은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(4/8)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추론 ① — 과학 퀴즈 · 최난도 생각력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GPQA = 대학원 수준 과학(물리·화학·생물) 퀴즈 — 상위권은 90%대로 비슷함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HLE = '인류 최후의 시험' — 도구 없이 혼자 푸는 초난도 종합 사고 시험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664208"/>
          <a:ext cx="544068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074920"/>
            <a:ext cx="11292840" cy="9601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270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추론 ① 결론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과학 퀴즈(GPQA)는 4종 모두 88~94% — 격차 작음 (거의 비슷)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진짜 어려운 생각(HLE)에서는 Claude·Grok 상위 — '막히는 문제'는 Claude가 유리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(5/8)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추론 ② — 수학 문제 (난이도별)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MATH-500 = 중·고등~대학 초급 수학  |  AIME = 올림피아드급  |  FrontierMath = 연구자도 어려운 최고난도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쉬운 수학은 GPT·Gemini·Grok도 94%↑  |  어려울수록 점수 차이가 커짐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627632"/>
          <a:ext cx="112471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074920"/>
            <a:ext cx="11292840" cy="9601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270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추론 ② 결론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일반·올림피아드 수학 → GPT·Grok·Gemini 앞섬 (95~97%)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최고난도 수학(FrontierMath) → Grok 54% 1위  |  HW팀: 계산·수식 많은 업무는 GPT, 초난도는 Grok도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(6/8)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추론 ③ — 도구 쓰면 더 잘 푸는지 · 종합 정리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1732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63640" y="1417320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D4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554480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코딩
버그 수정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774A"/>
                </a:solidFill>
                <a:latin typeface="Apple SD Gothic Neo"/>
              </a:rPr>
              <a:t>Claude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SWE Pro 69%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417320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0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7" y="1554480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터미널
명령어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0A37A"/>
                </a:solidFill>
                <a:latin typeface="Apple SD Gothic Neo"/>
              </a:rPr>
              <a:t>GPT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Terminal 78%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78" y="1417320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D4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6" y="1554480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PC
직접 조작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774A"/>
                </a:solidFill>
                <a:latin typeface="Apple SD Gothic Neo"/>
              </a:rPr>
              <a:t>Claude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OSWorld 83%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291839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D4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428999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어려운
생각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4774A"/>
                </a:solidFill>
                <a:latin typeface="Apple SD Gothic Neo"/>
              </a:rPr>
              <a:t>Claude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HLE 50~58%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291839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7" y="3428999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과학
퀴즈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285F4"/>
                </a:solidFill>
                <a:latin typeface="Apple SD Gothic Neo"/>
              </a:rPr>
              <a:t>Gemini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GPQA 94%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78" y="3291839"/>
            <a:ext cx="1737360" cy="16916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6B7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6" y="3428999"/>
            <a:ext cx="150876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42A4A"/>
                </a:solidFill>
                <a:latin typeface="Apple SD Gothic Neo"/>
              </a:rPr>
              <a:t>최고난도
수학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B7B8C"/>
                </a:solidFill>
                <a:latin typeface="Apple SD Gothic Neo"/>
              </a:rPr>
              <a:t>Grok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444A55"/>
                </a:solidFill>
                <a:latin typeface="Apple SD Gothic Neo"/>
              </a:rPr>
              <a:t>Frontier 54%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30368"/>
            <a:ext cx="11292840" cy="86868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30368"/>
            <a:ext cx="109270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9FC4E8"/>
                </a:solidFill>
                <a:latin typeface="Apple SD Gothic Neo"/>
              </a:rPr>
              <a:t>한 줄 요약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코딩·복잡한 생각 → Claude  |  터미널·수학 → GPT  |  과학 → Gemini  |  초난도 수학·저비용 → Grok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시험마다 1등이 다름 → '우리 팀이 자주 하는 일'과 같은 시험 점수를 보면 선택이 쉬움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(7/8)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NC HW 개발팀  |  코딩·추론 역량 비교 (2026.6)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ple SD Gothic Neo"/>
              </a:rPr>
              <a:t>점수는 어디서 가져왔나요?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42A4A"/>
                </a:solidFill>
                <a:latin typeface="Apple SD Gothic Neo"/>
              </a:rPr>
              <a:t>공식 자료 (각 AI 회사가 직접 공개한 시험 점수)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Anthropic Claude Opus 4.8 System Card  ·  OpenAI GPT-5.5  ·  Google Gemini 3.1 Pro  ·  xAI Grok 4.3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00" b="0">
                <a:solidFill>
                  <a:srgbClr val="444A55"/>
                </a:solidFill>
                <a:latin typeface="Apple SD Gothic Neo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42A4A"/>
                </a:solidFill>
                <a:latin typeface="Apple SD Gothic Neo"/>
              </a:rPr>
              <a:t>독립 검증 (회사 말만 믿지 않고 다른 기관이 모아둔 자료)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Artificial Analysis  ·  Vellum  ·  Weights &amp; Biases ml-news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00" b="0">
                <a:solidFill>
                  <a:srgbClr val="444A55"/>
                </a:solidFill>
                <a:latin typeface="Apple SD Gothic Neo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F27E2E"/>
                </a:solidFill>
                <a:latin typeface="Apple SD Gothic Neo"/>
              </a:rPr>
              <a:t>꼭 기억할 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① 같은 시험이어도 측정 방법이 다르면 점수가 달라질 수 있음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② * 표시는 공식 미공개라 근사치 — 보고 시 '약' 또는 '추정'으로 말하면 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③ 2~3% 차이는 오차 범위 — '비슷하다'고 봐도 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(8/8)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