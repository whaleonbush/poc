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Apple SD Gothic Neo"/>
              </a:rPr>
              <a:t>Cline SR 사내 활용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886968" y="3456432"/>
            <a:ext cx="4206240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3749039"/>
            <a:ext cx="1051560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C9D8EA"/>
                </a:solidFill>
                <a:latin typeface="Apple SD Gothic Neo"/>
              </a:rPr>
              <a:t>NC HW 개발팀  |  Gauss · Ollama · GitHub Enterprise 연계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8A929E"/>
                </a:solidFill>
                <a:latin typeface="Apple SD Gothic Neo"/>
              </a:rPr>
              <a:t>VS Code 기반 사내 AI 코딩 환경 활용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사내 도구 구성 — 설명 및 활용 범위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5550408" cy="2578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170432"/>
            <a:ext cx="5550408" cy="420624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5550408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Cline SR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5148072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30" b="0">
                <a:solidFill>
                  <a:srgbClr val="444A55"/>
                </a:solidFill>
                <a:latin typeface="Apple SD Gothic Neo"/>
              </a:rPr>
              <a:t>VS Code 확장 AI 코딩 에이전트. 지시 → 계획 → 실행으로 코드 읽기·작성·수정, 터미널 명령 수행.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322576"/>
            <a:ext cx="5148072" cy="12700"/>
          </a:xfrm>
          <a:prstGeom prst="rect">
            <a:avLst/>
          </a:prstGeom>
          <a:solidFill>
            <a:srgbClr val="D5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77440"/>
            <a:ext cx="5148072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F6FB2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651760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펌웨어·드라이버·HAL 코드 초안·리팩터링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898648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멀티파일 일괄 수정·디버깅 보조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145536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측정·검증 Python 스크립트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392424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레거시 코드 분석·설명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170432"/>
            <a:ext cx="5550408" cy="2578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9632" y="1170432"/>
            <a:ext cx="5550408" cy="420624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1170432"/>
            <a:ext cx="5550408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Gauss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82496"/>
            <a:ext cx="5148072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30" b="0">
                <a:solidFill>
                  <a:srgbClr val="444A55"/>
                </a:solidFill>
                <a:latin typeface="Apple SD Gothic Neo"/>
              </a:rPr>
              <a:t>사내 대형 언어모델(LLM) API. Cline SR의 두뇌 역할. 사내망 내 처리로 외부 유출 없음.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322576"/>
            <a:ext cx="5148072" cy="12700"/>
          </a:xfrm>
          <a:prstGeom prst="rect">
            <a:avLst/>
          </a:prstGeom>
          <a:solidFill>
            <a:srgbClr val="D5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377440"/>
            <a:ext cx="5148072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27E2E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651760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일반 코딩·문서·코드 리뷰 질의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2898648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시험·이슈·회의 보고서 초안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145536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데이터시트 기반 코드·설명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3392424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분당 3~4회 호출 제한 → 장시간 작업 시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95344"/>
            <a:ext cx="5550408" cy="2578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3895344"/>
            <a:ext cx="5550408" cy="420624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895344"/>
            <a:ext cx="5550408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Ollama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407408"/>
            <a:ext cx="5148072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30" b="0">
                <a:solidFill>
                  <a:srgbClr val="444A55"/>
                </a:solidFill>
                <a:latin typeface="Apple SD Gothic Neo"/>
              </a:rPr>
              <a:t>개발자 PC에서 구동하는 로컬 LLM. 완전 오프라인·망분리 환경에서 Cline SR과 연동.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047488"/>
            <a:ext cx="5148072" cy="12700"/>
          </a:xfrm>
          <a:prstGeom prst="rect">
            <a:avLst/>
          </a:prstGeom>
          <a:solidFill>
            <a:srgbClr val="D5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102352"/>
            <a:ext cx="5148072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27AE60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" y="5376672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고민감·망분리 구역 자료 처리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" y="5623560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간단한 코드·문서 보조 (로컬)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870448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GPU 없는 PC는 응답 속도 현저히 저하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" y="6117336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대용량·장문 분석은 Gauss 권장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3895344"/>
            <a:ext cx="5550408" cy="25786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9632" y="3895344"/>
            <a:ext cx="5550408" cy="420624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2" y="3895344"/>
            <a:ext cx="5550408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GitHub Enterprise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07408"/>
            <a:ext cx="5148072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30" b="0">
                <a:solidFill>
                  <a:srgbClr val="444A55"/>
                </a:solidFill>
                <a:latin typeface="Apple SD Gothic Neo"/>
              </a:rPr>
              <a:t>사내 Git 저장소·협업 플랫폼. 코드 이력·브랜치·PR·이슈·코드 검색·리뷰 워크플로.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047488"/>
            <a:ext cx="5148072" cy="12700"/>
          </a:xfrm>
          <a:prstGeom prst="rect">
            <a:avLst/>
          </a:prstGeom>
          <a:solidFill>
            <a:srgbClr val="D5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5102352"/>
            <a:ext cx="5148072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5376672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소스코드 버전 관리·브랜치 전략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5623560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PR·코드 리뷰·이슈 트래킹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5870448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팀 내 코드 검색·변경 이력 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6117336"/>
            <a:ext cx="5093208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444A55"/>
                </a:solidFill>
                <a:latin typeface="Apple SD Gothic Neo"/>
              </a:rPr>
              <a:t>• Cline SR 작업 결과물의 사내 저장·공유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 — 사내 AI 환경 활용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60704"/>
            <a:ext cx="1124712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목표: 정형·반복 업무를 AI가 직접 수행하도록 확대하고, 엔지니어는 설계·검증·판단에 집중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240280" cy="42976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2402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 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63040"/>
            <a:ext cx="5715000" cy="42976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57150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활용 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463040"/>
            <a:ext cx="3337560" cy="42976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463040"/>
            <a:ext cx="33375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주요 도구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92808"/>
            <a:ext cx="224028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5300" y="1892808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펌웨어·드라이버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1892808"/>
            <a:ext cx="57150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24480" y="1892808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C/HAL·I2C/SPI/UART 코드 초안·리팩터링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892808"/>
            <a:ext cx="33375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0580" y="1892808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22576"/>
            <a:ext cx="224028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" y="2322576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레지스터·설정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2322576"/>
            <a:ext cx="571500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4480" y="2322576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데이터시트 기반 헤더·초기화 코드 생성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2322576"/>
            <a:ext cx="333756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0580" y="2322576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752344"/>
            <a:ext cx="224028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300" y="2752344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측정·검증 자동화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2752344"/>
            <a:ext cx="57150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4480" y="2752344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계측기 제어·로그 수집 Python 스크립트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0" y="2752344"/>
            <a:ext cx="33375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0580" y="2752344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Gauss/Ollama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182112"/>
            <a:ext cx="224028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300" y="3182112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데이터·로그 분석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182112"/>
            <a:ext cx="571500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24480" y="3182112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측정값 파싱·표·그래프·이상 패턴 정리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3182112"/>
            <a:ext cx="333756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0580" y="3182112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611880"/>
            <a:ext cx="224028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300" y="3611880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문서·보고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3611880"/>
            <a:ext cx="57150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24480" y="3611880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시험·이슈·회의·인수인계 문서 초안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3611880"/>
            <a:ext cx="33375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0580" y="3611880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Gauss / Cline SR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041648"/>
            <a:ext cx="224028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5300" y="4041648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코드 리뷰·품질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4041648"/>
            <a:ext cx="571500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24480" y="4041648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MISRA-C 스타일·예외처리·위험 구간 점검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0" y="4041648"/>
            <a:ext cx="333756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0580" y="4041648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471416"/>
            <a:ext cx="224028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5300" y="4471416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저장소·협업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97480" y="4471416"/>
            <a:ext cx="571500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24480" y="4471416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브랜치·PR·이슈·코드 검색·리뷰 워크플로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4471416"/>
            <a:ext cx="33375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50580" y="4471416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 Enterprise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901184"/>
            <a:ext cx="224028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300" y="4901184"/>
            <a:ext cx="216408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레거시·HDL 보조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97480" y="4901184"/>
            <a:ext cx="571500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24480" y="4901184"/>
            <a:ext cx="551180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구형 펌웨어 설명·testbench 초안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0" y="4901184"/>
            <a:ext cx="3337560" cy="42976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50580" y="4901184"/>
            <a:ext cx="3261360" cy="4297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Cline SR + Gauss/Ollama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86400"/>
            <a:ext cx="11292840" cy="9144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486400"/>
            <a:ext cx="1083564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환경 구성 요약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VS Code(IDE) + Cline SR(에이전트) + Gauss(사내 LLM) / Ollama(로컬 LLM) + GitHub Enterprise(사내 저장소)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지금 당장 활용 가능한 분야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109728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즉시 적용 가능 (보안 검토 완료 환경 기준)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1463040" cy="45720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14630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분야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1444752"/>
            <a:ext cx="2971800" cy="45720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444752"/>
            <a:ext cx="29718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활용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1444752"/>
            <a:ext cx="6766560" cy="45720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444752"/>
            <a:ext cx="67665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HW 개발 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01952"/>
            <a:ext cx="1463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9019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초안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1901952"/>
            <a:ext cx="29718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7240" y="19019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Cline SR이 파일 단위로 작성·수정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1901952"/>
            <a:ext cx="6766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9040" y="19019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센서·PMIC·충전 IC 드라이버·HAL 초안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59152"/>
            <a:ext cx="146304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300" y="23591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레지스터 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2359152"/>
            <a:ext cx="297180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47240" y="23591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표 기반 헤더·초기화 코드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2359152"/>
            <a:ext cx="676656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9040" y="23591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데이터시트 레지스터 정의 → .h 변환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16352"/>
            <a:ext cx="1463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28163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스크립트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2816352"/>
            <a:ext cx="29718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47240" y="28163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Python·SCPI 자동화 코드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92040" y="2816352"/>
            <a:ext cx="6766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9040" y="28163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전압·전류·온도·소비전력 측정 루프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73552"/>
            <a:ext cx="146304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300" y="32735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로그·데이터 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273552"/>
            <a:ext cx="297180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47240" y="32735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파싱·표·요약 문장 생성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3273552"/>
            <a:ext cx="676656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19040" y="32735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시험 로그·CSV → 보고용 표·그래프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730752"/>
            <a:ext cx="1463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37307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 초안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20240" y="3730752"/>
            <a:ext cx="29718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47240" y="37307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코드·이슈 기반 문서화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92040" y="3730752"/>
            <a:ext cx="6766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9040" y="37307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시험 결과·회의록·개발 가이드 초안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87952"/>
            <a:ext cx="146304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5300" y="41879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점검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20240" y="4187952"/>
            <a:ext cx="297180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47240" y="41879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규칙·패턴·누락 검토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92040" y="4187952"/>
            <a:ext cx="6766560" cy="45720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19040" y="41879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예외처리·매직넘버·중복 코드 지적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645152"/>
            <a:ext cx="1463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5300" y="4645152"/>
            <a:ext cx="138684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 워크플로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20240" y="4645152"/>
            <a:ext cx="29718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47240" y="4645152"/>
            <a:ext cx="27686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PR·이슈·코드 검색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92040" y="4645152"/>
            <a:ext cx="6766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9040" y="4645152"/>
            <a:ext cx="6563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브랜치 관리·리뷰·이력 추적 (GitHub Enterprise)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138928"/>
            <a:ext cx="5532120" cy="1207008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138928"/>
            <a:ext cx="5120640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권장 운영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Gauss: 일반 코딩·문서 (고성능)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Ollama: 망분리·고민감 자료 (로컬)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긴 작업은 짧은 단위로 분할 요청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5138928"/>
            <a:ext cx="5532120" cy="12070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5138928"/>
            <a:ext cx="5074920" cy="12070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기대 효과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반복·정형 업무 시간 단축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개발자는 설계·실측·검증에 집중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사내 망 내 데이터 유출 없음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현재 사내 조건의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60704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42416"/>
            <a:ext cx="109728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현재 환경에서 제약이 있는 영역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1292840" cy="768096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76200" cy="768096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292608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외부 MCP·API 사용 제한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09344"/>
            <a:ext cx="12700" cy="47548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463040"/>
            <a:ext cx="781812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외부 문서 검색·외부 저장소·외부 분석 도구 자동 연동 불가. Cline SR이 스스로 최신 공개 자료·외부 API를 호출할 수 없음.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322576"/>
            <a:ext cx="11292840" cy="768096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76200" cy="768096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22576"/>
            <a:ext cx="292608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임베딩·청킹 성능 제한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468880"/>
            <a:ext cx="12700" cy="47548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2322576"/>
            <a:ext cx="781812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장문 데이터시트·설계서의 의미 기반 검색·분할 처리 품질이 낮음. 수백 페이지 사양서에서 특정 설정값을 정확히 찾기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82112"/>
            <a:ext cx="11292840" cy="768096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82112"/>
            <a:ext cx="76200" cy="768096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82112"/>
            <a:ext cx="292608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OCR 성능 제한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3328416"/>
            <a:ext cx="12700" cy="47548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0" y="3182112"/>
            <a:ext cx="781812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스캔 PDF·회로도 캡처·이미지 내 텍스트 인식 품질이 낮음. 도면·스캔 자료를 바로 구조화·분석하기 어려움.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41648"/>
            <a:ext cx="11292840" cy="768096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041648"/>
            <a:ext cx="76200" cy="768096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292608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Gauss API 호출 제한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4187952"/>
            <a:ext cx="12700" cy="47548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0" y="4041648"/>
            <a:ext cx="781812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분당 약 3~4회 호출 제한. Cline SR의 다단계·다회 수정 작업 시 대기 시간이 누적되어 작업 속도 저하.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01184"/>
            <a:ext cx="11292840" cy="768096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01184"/>
            <a:ext cx="76200" cy="768096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901184"/>
            <a:ext cx="292608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Ollama 로컬 성능 제한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5047488"/>
            <a:ext cx="12700" cy="475488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4901184"/>
            <a:ext cx="7818120" cy="7680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개인 PC에 GPU가 없으면 응답·추론 속도가 현저히 느림. 대용량 코드·장문 분석은 실무 적용이 어려움.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11292840" cy="47548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053328"/>
            <a:ext cx="112928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20" b="1">
                <a:solidFill>
                  <a:srgbClr val="FFFFFF"/>
                </a:solidFill>
                <a:latin typeface="Apple SD Gothic Neo"/>
              </a:rPr>
              <a:t>핵심: 보안·망분리 환경에서는 유용하나, 외부 연동·고급 문서/OCR·고속 대량 호출은 현재 구조상 제약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사내 AI 환경 vs 외부 도구 — 대조 및 결론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07008"/>
            <a:ext cx="5504688" cy="411480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07008"/>
            <a:ext cx="5504688" cy="47548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07008"/>
            <a:ext cx="5504688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현재 사내 환경 (활용 가능)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10512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펌웨어·드라이버·HAL 코드 초안·수정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53996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측정·검증 Python 스크립트 자동화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로그·측정 데이터 파싱·표·요약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140964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시험·이슈·회의 문서 초안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584448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GitHub Enterprise 기반 코드 리뷰·협업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027932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망분리·로컬(Ollama) 고민감 자료 처리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471416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Apple SD Gothic Neo"/>
              </a:rPr>
              <a:t>✓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Gauss·Cline SR 다단계 작업 (호출 한도 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207008"/>
            <a:ext cx="5504688" cy="4114800"/>
          </a:xfrm>
          <a:prstGeom prst="roundRect">
            <a:avLst/>
          </a:prstGeom>
          <a:solidFill>
            <a:srgbClr val="FEF1E6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45352" y="1207008"/>
            <a:ext cx="5504688" cy="47548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5352" y="1207008"/>
            <a:ext cx="5504688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pple SD Gothic Neo"/>
              </a:rPr>
              <a:t>외부 도구 (인증·정책 제약)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1810512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외부 MCP·API·플러그인 자동 연동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253996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ChatGPT·Gemini·Claude 외부 LLM 연동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697480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웹·최신 공개 자료 실시간 검색·인용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3140964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고품질 임베딩·장문 사양서 의미 검색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584448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고정밀 OCR (스캔 PDF·회로도)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27932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대량·고속 API 호출 (분당 수십~수백 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4471416"/>
            <a:ext cx="5047488" cy="4434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✗  </a:t>
            </a:r>
            <a:r>
              <a:rPr sz="1100" b="0">
                <a:solidFill>
                  <a:srgbClr val="444A55"/>
                </a:solidFill>
                <a:latin typeface="Apple SD Gothic Neo"/>
              </a:rPr>
              <a:t>멀티모달·에이전트 클라우드 위임 (Codex 등)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9300" y="2971800"/>
            <a:ext cx="548640" cy="54864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9300" y="2971800"/>
            <a:ext cx="5486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VS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486400"/>
            <a:ext cx="11292840" cy="10972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486400"/>
            <a:ext cx="10789920" cy="10972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결론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30" b="1">
                <a:solidFill>
                  <a:srgbClr val="9FC4E8"/>
                </a:solidFill>
                <a:latin typeface="Apple SD Gothic Neo"/>
              </a:rPr>
              <a:t>• 활용 가능: </a:t>
            </a:r>
            <a:r>
              <a:rPr sz="1130" b="0">
                <a:solidFill>
                  <a:srgbClr val="FFFFFF"/>
                </a:solidFill>
                <a:latin typeface="Apple SD Gothic Neo"/>
              </a:rPr>
              <a:t>코드·스크립트 초안, 측정·로그 정리, 문서 초안, 사내 Git 협업, 망분리 로컬 처리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30" b="1">
                <a:solidFill>
                  <a:srgbClr val="F2B08A"/>
                </a:solidFill>
                <a:latin typeface="Apple SD Gothic Neo"/>
              </a:rPr>
              <a:t>• 한계로 불가: </a:t>
            </a:r>
            <a:r>
              <a:rPr sz="1130" b="0">
                <a:solidFill>
                  <a:srgbClr val="FFFFFF"/>
                </a:solidFill>
                <a:latin typeface="Apple SD Gothic Neo"/>
              </a:rPr>
              <a:t>외부 MCP·API 연동, 고품질 장문 검색·OCR, 대량 고속 호출, 외부 LLM·최신 웹 자료 자동 활용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