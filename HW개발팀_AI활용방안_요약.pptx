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NC HW 개발팀  |  사내 AI 환경 (VS Code · Cline SR · Gauss · Ollama · GitHub Enterprise) 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HW 개발 업무 — 사내 AI 환경 활용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목표: 정형·반복 업무를 AI가 직접 수행하도록 확대하고, 엔지니어는 설계·검증·판단에 집중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44752"/>
            <a:ext cx="2148840" cy="47548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44752"/>
            <a:ext cx="21488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업무 영역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444752"/>
            <a:ext cx="5806440" cy="47548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444752"/>
            <a:ext cx="58064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활용 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1444752"/>
            <a:ext cx="3794760" cy="47548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444752"/>
            <a:ext cx="379476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주요 도구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20240"/>
            <a:ext cx="2148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580" y="1920240"/>
            <a:ext cx="20726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펌웨어·드라이버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1920240"/>
            <a:ext cx="5806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8420" y="1920240"/>
            <a:ext cx="57302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C/HAL·I2C/SPI/UART 코드 초안·리팩터링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1920240"/>
            <a:ext cx="3794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4860" y="1920240"/>
            <a:ext cx="371856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VS Code + Cline SR + Gauss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395728"/>
            <a:ext cx="214884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580" y="2395728"/>
            <a:ext cx="20726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레지스터·설정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395728"/>
            <a:ext cx="580644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98420" y="2395728"/>
            <a:ext cx="57302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데이터시트 기반 헤더·초기화 코드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2395728"/>
            <a:ext cx="379476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4860" y="2395728"/>
            <a:ext cx="371856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Cline SR + Gauss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871216"/>
            <a:ext cx="2148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580" y="2871216"/>
            <a:ext cx="20726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측정·검증 자동화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2871216"/>
            <a:ext cx="5806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8420" y="2871216"/>
            <a:ext cx="57302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계측기 제어·로그 수집 Python 스크립트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2871216"/>
            <a:ext cx="3794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4860" y="2871216"/>
            <a:ext cx="371856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Cline SR + Gauss / Ollama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346704"/>
            <a:ext cx="214884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580" y="3346704"/>
            <a:ext cx="20726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데이터·로그 분석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3346704"/>
            <a:ext cx="580644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98420" y="3346704"/>
            <a:ext cx="57302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측정값 파싱·표·그래프·이상 패턴 정리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3346704"/>
            <a:ext cx="379476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4860" y="3346704"/>
            <a:ext cx="371856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Cline SR + Gauss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822192"/>
            <a:ext cx="2148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580" y="3822192"/>
            <a:ext cx="20726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문서·보고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822192"/>
            <a:ext cx="5806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98420" y="3822192"/>
            <a:ext cx="57302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시험·이슈·회의·인수인계 문서 초안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60" y="3822192"/>
            <a:ext cx="3794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4860" y="3822192"/>
            <a:ext cx="371856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Gauss / Cline SR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297680"/>
            <a:ext cx="214884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9580" y="4297680"/>
            <a:ext cx="20726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코드 리뷰·품질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4297680"/>
            <a:ext cx="580644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98420" y="4297680"/>
            <a:ext cx="57302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MISRA-C 스타일·예외처리·위험 구간 점검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60" y="4297680"/>
            <a:ext cx="379476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04860" y="4297680"/>
            <a:ext cx="371856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Cline SR + Gauss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773168"/>
            <a:ext cx="2148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9580" y="4773168"/>
            <a:ext cx="20726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저장소·협업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0" y="4773168"/>
            <a:ext cx="5806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98420" y="4773168"/>
            <a:ext cx="57302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브랜치·PR·이슈·코드 검색·리뷰 워크플로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66760" y="4773168"/>
            <a:ext cx="3794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04860" y="4773168"/>
            <a:ext cx="371856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GitHub Enterprise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248656"/>
            <a:ext cx="214884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580" y="5248656"/>
            <a:ext cx="20726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레거시·HDL 보조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0" y="5248656"/>
            <a:ext cx="580644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98420" y="5248656"/>
            <a:ext cx="57302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구형 펌웨어 설명·testbench 초안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66760" y="5248656"/>
            <a:ext cx="379476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04860" y="5248656"/>
            <a:ext cx="371856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19" b="0">
                <a:solidFill>
                  <a:srgbClr val="444A55"/>
                </a:solidFill>
                <a:latin typeface="Apple SD Gothic Neo"/>
              </a:rPr>
              <a:t>Cline SR + Gauss / Ollama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5440680"/>
            <a:ext cx="11338560" cy="96012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440680"/>
            <a:ext cx="1088136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9FC4E8"/>
                </a:solidFill>
                <a:latin typeface="Apple SD Gothic Neo"/>
              </a:rPr>
              <a:t>환경 구성 요약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Apple SD Gothic Neo"/>
              </a:rPr>
              <a:t>VS Code(IDE) + Cline SR(에이전트) + Gauss(사내 LLM) / Ollama(로컬 LLM) + GitHub Enterprise(사내 저장소)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NC HW 개발팀  |  사내 AI 환경 (VS Code · Cline SR · Gauss · Ollama · GitHub Enterprise) 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지금 당장 활용 가능한 분야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63500" cy="292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060704"/>
            <a:ext cx="109728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42A4A"/>
                </a:solidFill>
                <a:latin typeface="Apple SD Gothic Neo"/>
              </a:rPr>
              <a:t>즉시 적용 가능 (보안 검토 완료 환경 기준)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44752"/>
            <a:ext cx="1417320" cy="530352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14173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분야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444752"/>
            <a:ext cx="2880360" cy="530352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444752"/>
            <a:ext cx="28803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활용 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444752"/>
            <a:ext cx="6903720" cy="530352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444752"/>
            <a:ext cx="69037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HW 개발 예시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75104"/>
            <a:ext cx="1417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020" y="1975104"/>
            <a:ext cx="13411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코드 초안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975104"/>
            <a:ext cx="2880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58340" y="1975104"/>
            <a:ext cx="28041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Cline SR이 파일 단위로 작성·수정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975104"/>
            <a:ext cx="69037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8700" y="1975104"/>
            <a:ext cx="68275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센서·PMIC·충전 IC 드라이버·HAL 초안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05456"/>
            <a:ext cx="141732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020" y="2505456"/>
            <a:ext cx="13411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레지스터 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2505456"/>
            <a:ext cx="288036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58340" y="2505456"/>
            <a:ext cx="28041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표 기반 헤더·초기화 코드 생성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2505456"/>
            <a:ext cx="690372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38700" y="2505456"/>
            <a:ext cx="68275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데이터시트 레지스터 정의 → .h 변환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35808"/>
            <a:ext cx="1417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020" y="3035808"/>
            <a:ext cx="13411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측정 스크립트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3035808"/>
            <a:ext cx="2880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58340" y="3035808"/>
            <a:ext cx="28041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Python·SCPI 자동화 코드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035808"/>
            <a:ext cx="69037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38700" y="3035808"/>
            <a:ext cx="68275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전압·전류·온도·소비전력 측정 루프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566160"/>
            <a:ext cx="141732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020" y="3566160"/>
            <a:ext cx="13411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로그·데이터 정리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3566160"/>
            <a:ext cx="288036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58340" y="3566160"/>
            <a:ext cx="28041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파싱·표·요약 문장 생성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3566160"/>
            <a:ext cx="690372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38700" y="3566160"/>
            <a:ext cx="68275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시험 로그·CSV → 보고용 표·그래프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096512"/>
            <a:ext cx="1417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1020" y="4096512"/>
            <a:ext cx="13411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문서 초안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0" y="4096512"/>
            <a:ext cx="2880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58340" y="4096512"/>
            <a:ext cx="28041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코드·이슈 기반 문서화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4096512"/>
            <a:ext cx="69037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38700" y="4096512"/>
            <a:ext cx="68275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시험 결과·회의록·개발 가이드 초안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626864"/>
            <a:ext cx="141732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1020" y="4626864"/>
            <a:ext cx="13411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코드 점검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20240" y="4626864"/>
            <a:ext cx="288036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58340" y="4626864"/>
            <a:ext cx="28041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규칙·패턴·누락 검토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4626864"/>
            <a:ext cx="690372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38700" y="4626864"/>
            <a:ext cx="68275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예외처리·매직넘버·중복 코드 지적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157216"/>
            <a:ext cx="1417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1020" y="5157216"/>
            <a:ext cx="13411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Git 워크플로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20240" y="5157216"/>
            <a:ext cx="2880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58340" y="5157216"/>
            <a:ext cx="28041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PR·이슈·코드 검색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00600" y="5157216"/>
            <a:ext cx="69037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38700" y="5157216"/>
            <a:ext cx="682752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브랜치 관리·리뷰·이력 추적 (GitHub Enterprise)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4892040"/>
            <a:ext cx="5486400" cy="123444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4892040"/>
            <a:ext cx="507492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F6FB2"/>
                </a:solidFill>
                <a:latin typeface="Apple SD Gothic Neo"/>
              </a:rPr>
              <a:t>권장 운영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• Gauss: 일반 코딩·문서 (고성능)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• Ollama: 망분리·고민감 자료 (로컬)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• 긴 작업은 짧은 단위로 분할 요청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72200" y="4892040"/>
            <a:ext cx="5532120" cy="123444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82512" y="4892040"/>
            <a:ext cx="512064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9FC4E8"/>
                </a:solidFill>
                <a:latin typeface="Apple SD Gothic Neo"/>
              </a:rPr>
              <a:t>기대 효과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Apple SD Gothic Neo"/>
              </a:rPr>
              <a:t>반복·정형 업무 시간 단축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Apple SD Gothic Neo"/>
              </a:rPr>
              <a:t>개발자는 설계·실측·검증에 집중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Apple SD Gothic Neo"/>
              </a:rPr>
              <a:t>사내 망 내 데이터 유출 없음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NC HW 개발팀  |  사내 AI 환경 (VS Code · Cline SR · Gauss · Ollama · GitHub Enterprise) 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현재 사내 조건의 한계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89888"/>
            <a:ext cx="11292840" cy="804672"/>
          </a:xfrm>
          <a:prstGeom prst="roundRect">
            <a:avLst/>
          </a:prstGeom>
          <a:solidFill>
            <a:srgbClr val="FEF1E6"/>
          </a:solidFill>
          <a:ln w="1270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76200" cy="804672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88036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42A4A"/>
                </a:solidFill>
                <a:latin typeface="Apple SD Gothic Neo"/>
              </a:rPr>
              <a:t>외부 MCP·API 사용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481328"/>
            <a:ext cx="8001000" cy="6217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44A55"/>
                </a:solidFill>
                <a:latin typeface="Apple SD Gothic Neo"/>
              </a:rPr>
              <a:t>외부 문서 검색·외부 저장소·외부 분석 도구 자동 연동 불가. Cline SR이 스스로 최신 공개 자료·외부 API를 호출할 수 없음.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92840" cy="804672"/>
          </a:xfrm>
          <a:prstGeom prst="roundRect">
            <a:avLst/>
          </a:prstGeom>
          <a:solidFill>
            <a:srgbClr val="FEF1E6"/>
          </a:solidFill>
          <a:ln w="1270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76200" cy="804672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288036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42A4A"/>
                </a:solidFill>
                <a:latin typeface="Apple SD Gothic Neo"/>
              </a:rPr>
              <a:t>임베딩·청킹 성능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8001000" cy="6217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44A55"/>
                </a:solidFill>
                <a:latin typeface="Apple SD Gothic Neo"/>
              </a:rPr>
              <a:t>장문 데이터시트·설계서의 의미 기반 검색·분할 처리 품질이 낮음. 수백 페이지 사양서에서 특정 설정값을 정확히 찾기 어려움.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82112"/>
            <a:ext cx="11292840" cy="804672"/>
          </a:xfrm>
          <a:prstGeom prst="roundRect">
            <a:avLst/>
          </a:prstGeom>
          <a:solidFill>
            <a:srgbClr val="FEF1E6"/>
          </a:solidFill>
          <a:ln w="1270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82112"/>
            <a:ext cx="76200" cy="804672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73552"/>
            <a:ext cx="288036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42A4A"/>
                </a:solidFill>
                <a:latin typeface="Apple SD Gothic Neo"/>
              </a:rPr>
              <a:t>OCR 성능 제한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273552"/>
            <a:ext cx="8001000" cy="6217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44A55"/>
                </a:solidFill>
                <a:latin typeface="Apple SD Gothic Neo"/>
              </a:rPr>
              <a:t>스캔 PDF·회로도 캡처·이미지 내 텍스트 인식 품질이 낮음. 도면·스캔 자료를 바로 구조화·분석하기 어려움.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78224"/>
            <a:ext cx="11292840" cy="804672"/>
          </a:xfrm>
          <a:prstGeom prst="roundRect">
            <a:avLst/>
          </a:prstGeom>
          <a:solidFill>
            <a:srgbClr val="FEF1E6"/>
          </a:solidFill>
          <a:ln w="1270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78224"/>
            <a:ext cx="76200" cy="804672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169664"/>
            <a:ext cx="288036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42A4A"/>
                </a:solidFill>
                <a:latin typeface="Apple SD Gothic Neo"/>
              </a:rPr>
              <a:t>Gauss API 호출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169664"/>
            <a:ext cx="8001000" cy="6217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44A55"/>
                </a:solidFill>
                <a:latin typeface="Apple SD Gothic Neo"/>
              </a:rPr>
              <a:t>분당 약 3~4회 호출 제한. Cline SR의 다단계·다회 수정 작업 시 대기 시간이 누적되어 작업 속도 저하.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74336"/>
            <a:ext cx="11292840" cy="804672"/>
          </a:xfrm>
          <a:prstGeom prst="roundRect">
            <a:avLst/>
          </a:prstGeom>
          <a:solidFill>
            <a:srgbClr val="FEF1E6"/>
          </a:solidFill>
          <a:ln w="1270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974336"/>
            <a:ext cx="76200" cy="804672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065776"/>
            <a:ext cx="288036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42A4A"/>
                </a:solidFill>
                <a:latin typeface="Apple SD Gothic Neo"/>
              </a:rPr>
              <a:t>Ollama 로컬 성능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5065776"/>
            <a:ext cx="8001000" cy="6217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44A55"/>
                </a:solidFill>
                <a:latin typeface="Apple SD Gothic Neo"/>
              </a:rPr>
              <a:t>개인 PC에 GPU가 없으면 응답·추론 속도가 현저히 느림. 대용량 코드·장문 분석은 실무 적용이 어려움.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144768"/>
            <a:ext cx="11292840" cy="438912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144768"/>
            <a:ext cx="11292840" cy="43891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20" b="1">
                <a:solidFill>
                  <a:srgbClr val="FFFFFF"/>
                </a:solidFill>
                <a:latin typeface="Apple SD Gothic Neo"/>
              </a:rPr>
              <a:t>핵심: 보안·망분리 환경에서는 유용하나, 외부 연동·고급 문서/OCR·고속 대량 호출은 현재 구조상 제약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NC HW 개발팀  |  사내 AI 환경 (VS Code · Cline SR · Gauss · Ollama · GitHub Enterprise) 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사내 AI 환경 vs 외부 도구 — 대조 및 결론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532120" cy="4434840"/>
          </a:xfrm>
          <a:prstGeom prst="roundRect">
            <a:avLst/>
          </a:prstGeom>
          <a:solidFill>
            <a:srgbClr val="E8F1FA"/>
          </a:solidFill>
          <a:ln w="254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532120" cy="45720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5321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현재 사내 환경 (가능)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01368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✓ 펌웨어·드라이버·HAL 코드 초안·수정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6856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✓ 측정·검증 Python 스크립트 자동화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52344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✓ 로그·측정 데이터 파싱·표·요약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27832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✓ 시험·이슈·회의 문서 초안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03320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✓ 사내 코드·GitHub Enterprise 기반 리뷰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78808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✓ 망분리·로컬(Ollama) 고민감 자료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54296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✓ Gauss·Cline SR 기반 다단계 코드 작업 (호출 한도 내)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234440"/>
            <a:ext cx="5532120" cy="4434840"/>
          </a:xfrm>
          <a:prstGeom prst="roundRect">
            <a:avLst/>
          </a:prstGeom>
          <a:solidFill>
            <a:srgbClr val="FEF1E6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234440"/>
            <a:ext cx="5532120" cy="4572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234440"/>
            <a:ext cx="55321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외부 도구 (인증·정책 제약)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01368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✗ 외부 MCP·API·플러그인 자동 연동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76856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✗ ChatGPT·Gemini·Claude 등 외부 LLM 직접 연동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52344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✗ 웹·최신 공개 자료 실시간 검색·인용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27832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✗ 고품질 임베딩·장문 사양서 의미 검색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03320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✗ 고정밀 OCR (스캔 PDF·회로도)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78808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✗ 대량·고속 API 호출 (분당 수십~수백 회)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54296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20" b="0">
                <a:solidFill>
                  <a:srgbClr val="444A55"/>
                </a:solidFill>
                <a:latin typeface="Apple SD Gothic Neo"/>
              </a:rPr>
              <a:t>✗ 멀티모달·에이전트 클라우드 위임 (Codex 등)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926080"/>
            <a:ext cx="5943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27E2E"/>
                </a:solidFill>
                <a:latin typeface="Apple SD Gothic Neo"/>
              </a:rP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833872"/>
            <a:ext cx="11292840" cy="804672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833872"/>
            <a:ext cx="10835640" cy="8046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9FC4E8"/>
                </a:solidFill>
                <a:latin typeface="Apple SD Gothic Neo"/>
              </a:rPr>
              <a:t>결론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Apple SD Gothic Neo"/>
              </a:rPr>
              <a:t>현재 사내 AI 환경에서 활용 가능한 부분은 </a:t>
            </a:r>
            <a:r>
              <a:rPr sz="1150" b="1">
                <a:solidFill>
                  <a:srgbClr val="FFFFFF"/>
                </a:solidFill>
                <a:latin typeface="Apple SD Gothic Neo"/>
              </a:rPr>
              <a:t>코드·스크립트 초안, 측정·로그 정리, 문서 초안, 사내 Git 기반 협업, 망분리 로컬 처리</a:t>
            </a:r>
            <a:r>
              <a:rPr sz="1150" b="0">
                <a:solidFill>
                  <a:srgbClr val="FFFFFF"/>
                </a:solidFill>
                <a:latin typeface="Apple SD Gothic Neo"/>
              </a:rPr>
              <a:t> 이다.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Apple SD Gothic Neo"/>
              </a:rPr>
              <a:t>다만 사내 조건의 한계로 불가능하거나 어려운 부분은 </a:t>
            </a:r>
            <a:r>
              <a:rPr sz="1150" b="1">
                <a:solidFill>
                  <a:srgbClr val="FFFFFF"/>
                </a:solidFill>
                <a:latin typeface="Apple SD Gothic Neo"/>
              </a:rPr>
              <a:t>외부 MCP·API 연동, 고품질 장문 검색·OCR, 대량 고속 호출, 외부 LLM·최신 웹 자료 자동 활용</a:t>
            </a:r>
            <a:r>
              <a:rPr sz="1150" b="0">
                <a:solidFill>
                  <a:srgbClr val="FFFFFF"/>
                </a:solidFill>
                <a:latin typeface="Apple SD Gothic Neo"/>
              </a:rPr>
              <a:t> 이다.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