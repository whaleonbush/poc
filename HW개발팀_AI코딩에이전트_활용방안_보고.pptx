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03320"/>
            <a:ext cx="12191695" cy="4445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828800" cy="635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HW 개발팀 </a:t>
            </a:r>
            <a:r>
              <a:rPr sz="4000" b="1">
                <a:solidFill>
                  <a:srgbClr val="9FC4E8"/>
                </a:solidFill>
                <a:latin typeface="Apple SD Gothic Neo"/>
              </a:rPr>
              <a:t>AI 코딩 에이전트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활용 방안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C9D8EA"/>
                </a:solidFill>
                <a:latin typeface="Apple SD Gothic Neo"/>
              </a:rPr>
              <a:t>VS Code + Cline SR  ·  Gauss 사내 API  ·  Ollama 로컬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9436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A929E"/>
                </a:solidFill>
                <a:latin typeface="Apple SD Gothic Neo"/>
              </a:rPr>
              <a:t>HW 개발팀  |  상무님 보고용  | 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한 장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8900" cy="1143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00" cy="1143000"/>
          </a:xfrm>
          <a:prstGeom prst="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20116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Apple SD Gothic Neo"/>
              </a:rPr>
              <a:t>무엇을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71600"/>
            <a:ext cx="85039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444A55"/>
                </a:solidFill>
                <a:latin typeface="Apple SD Gothic Neo"/>
              </a:rPr>
              <a:t>VS Code 기반 AI 코딩 에이전트 Cline SR을 사내 LLM(Gauss)·로컬 LLM(Ollama)과 연동하여 HW 개발 업무에 도입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24328"/>
            <a:ext cx="88900" cy="11430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24328"/>
            <a:ext cx="10972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24328"/>
            <a:ext cx="20116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27E2E"/>
                </a:solidFill>
                <a:latin typeface="Apple SD Gothic Neo"/>
              </a:rPr>
              <a:t>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24328"/>
            <a:ext cx="85039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444A55"/>
                </a:solidFill>
                <a:latin typeface="Apple SD Gothic Neo"/>
              </a:rPr>
              <a:t>코드·설계자산을 외부로 유출하지 않는 사내망·로컬 환경에서 AI 활용 → 보안 위험 없이 생산성 향상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88900" cy="1143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77056"/>
            <a:ext cx="10972800" cy="1143000"/>
          </a:xfrm>
          <a:prstGeom prst="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77056"/>
            <a:ext cx="20116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Apple SD Gothic Neo"/>
              </a:rPr>
              <a:t>핵심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877056"/>
            <a:ext cx="85039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444A55"/>
                </a:solidFill>
                <a:latin typeface="Apple SD Gothic Neo"/>
              </a:rPr>
              <a:t>펌웨어·테스트·문서·리뷰 등 반복·정형 업무 자동화 → 개발 리드타임 단축 및 검증 품질 향상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9784"/>
            <a:ext cx="88900" cy="11430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29784"/>
            <a:ext cx="10972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29784"/>
            <a:ext cx="20116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27E2E"/>
                </a:solidFill>
                <a:latin typeface="Apple SD Gothic Neo"/>
              </a:rPr>
              <a:t>제언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129784"/>
            <a:ext cx="85039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444A55"/>
                </a:solidFill>
                <a:latin typeface="Apple SD Gothic Neo"/>
              </a:rPr>
              <a:t>저위험·고효용 업무부터 단계적 시범 적용(PoC) 후 팀 전체로 확산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추진 배경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02920" cy="50292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42A4A"/>
                </a:solidFill>
                <a:latin typeface="Apple SD Gothic Neo"/>
              </a:rPr>
              <a:t>AI 코딩 에이전트 확산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38528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44A55"/>
                </a:solidFill>
                <a:latin typeface="Apple SD Gothic Neo"/>
              </a:rPr>
              <a:t>SW 직군 중심으로 빠르게 확산 중이나 HW 개발팀은 활용도가 낮음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502920" cy="50292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6032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42A4A"/>
                </a:solidFill>
                <a:latin typeface="Apple SD Gothic Neo"/>
              </a:rPr>
              <a:t>HW팀도 코드성 업무 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0088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44A55"/>
                </a:solidFill>
                <a:latin typeface="Apple SD Gothic Neo"/>
              </a:rPr>
              <a:t>펌웨어·검증 스크립트·문서 등 코드성 업무 비중이 상당함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02920" cy="50292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1188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42A4A"/>
                </a:solidFill>
                <a:latin typeface="Apple SD Gothic Neo"/>
              </a:rPr>
              <a:t>외부 AI는 사용 제한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41648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44A55"/>
                </a:solidFill>
                <a:latin typeface="Apple SD Gothic Neo"/>
              </a:rPr>
              <a:t>ChatGPT 등 외부 서비스는 소스코드·설계자산 유출 우려로 사내 사용 제한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502920" cy="50292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6344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42A4A"/>
                </a:solidFill>
                <a:latin typeface="Apple SD Gothic Neo"/>
              </a:rPr>
              <a:t>사내 도구는 이미 안전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93208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44A55"/>
                </a:solidFill>
                <a:latin typeface="Apple SD Gothic Neo"/>
              </a:rPr>
              <a:t>Gauss(사내 API)·Ollama(로컬)는 외부 노출 없이 즉시 활용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도구 구성 및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42A4A"/>
                </a:solidFill>
                <a:latin typeface="Apple SD Gothic Neo"/>
              </a:rPr>
              <a:t>구성 요소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9601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6FB2"/>
                </a:solidFill>
                <a:latin typeface="Apple SD Gothic Neo"/>
              </a:rPr>
              <a:t>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개발자 표준 IDE (코드 편집기)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486400" cy="9601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0779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6FB2"/>
                </a:solidFill>
                <a:latin typeface="Apple SD Gothic Neo"/>
              </a:rPr>
              <a:t>Cline 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VS Code 내 AI 코딩 에이전트 — 코드 읽기/작성/수정·명령 실행을 자동 수행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486400" cy="9601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6FB2"/>
                </a:solidFill>
                <a:latin typeface="Apple SD Gothic Neo"/>
              </a:rPr>
              <a:t>Gauss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에이전트의 두뇌, 사내 LLM API (사내망, 고성능)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83480"/>
            <a:ext cx="5486400" cy="9601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0235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6FB2"/>
                </a:solidFill>
                <a:latin typeface="Apple SD Gothic Neo"/>
              </a:rPr>
              <a:t>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PC에서 직접 구동되는 로컬 LLM (완전 오프라인)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42A4A"/>
                </a:solidFill>
                <a:latin typeface="Apple SD Gothic Neo"/>
              </a:rPr>
              <a:t>동작 개념도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783080"/>
            <a:ext cx="5212080" cy="7315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83080"/>
            <a:ext cx="52120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개발자</a:t>
            </a:r>
            <a:r>
              <a:rPr sz="1300" b="0">
                <a:solidFill>
                  <a:srgbClr val="C9D8EA"/>
                </a:solidFill>
                <a:latin typeface="Apple SD Gothic Neo"/>
              </a:rPr>
              <a:t> · VS Code + Cline SR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26080"/>
            <a:ext cx="2514600" cy="10058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26080"/>
            <a:ext cx="251460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Gauss 사내 API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D8E6F4"/>
                </a:solidFill>
                <a:latin typeface="Apple SD Gothic Neo"/>
              </a:rPr>
              <a:t>사내망·고성능·팀 공용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926080"/>
            <a:ext cx="2514600" cy="10058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926080"/>
            <a:ext cx="251460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Ollama 로컬 LLM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D8E6F4"/>
                </a:solidFill>
                <a:latin typeface="Apple SD Gothic Neo"/>
              </a:rPr>
              <a:t>PC 내 완전 오프라인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51960"/>
            <a:ext cx="5212080" cy="1051560"/>
          </a:xfrm>
          <a:prstGeom prst="roundRect">
            <a:avLst/>
          </a:prstGeom>
          <a:solidFill>
            <a:srgbClr val="FEF1E6"/>
          </a:solidFill>
          <a:ln w="1905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51960"/>
            <a:ext cx="484632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27E2E"/>
                </a:solidFill>
                <a:latin typeface="Apple SD Gothic Neo"/>
              </a:rPr>
              <a:t>🔒  핵심 보안 포인트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44A55"/>
                </a:solidFill>
                <a:latin typeface="Apple SD Gothic Neo"/>
              </a:rPr>
              <a:t>입력한 코드·결과물이 사내망/로컬 PC 밖으로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44A55"/>
                </a:solidFill>
                <a:latin typeface="Apple SD Gothic Neo"/>
              </a:rPr>
              <a:t>전혀 나가지 않음 → 외부 유출 위험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Gauss vs Ollama — 언제 무엇을 쓰나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10312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103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Apple SD Gothic Neo"/>
              </a:rP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554480"/>
            <a:ext cx="438912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55448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Apple SD Gothic Neo"/>
              </a:rPr>
              <a:t>Gauss (사내 API)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554480"/>
            <a:ext cx="438912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5448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Apple SD Gothic Neo"/>
              </a:rPr>
              <a:t>Ollama (로컬)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23160"/>
            <a:ext cx="2103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880" y="2423160"/>
            <a:ext cx="2001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성능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423160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4000" y="2423160"/>
            <a:ext cx="4287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높음 (대형 모델)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423160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3120" y="2423160"/>
            <a:ext cx="4287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PC 사양에 의존 (상대적 제한)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91840"/>
            <a:ext cx="210312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880" y="3291840"/>
            <a:ext cx="2001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보안 수준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291840"/>
            <a:ext cx="438912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4000" y="3291840"/>
            <a:ext cx="4287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사내망 내 안전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291840"/>
            <a:ext cx="438912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3120" y="3291840"/>
            <a:ext cx="4287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최고 (오프라인·외부 차단)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60520"/>
            <a:ext cx="2103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880" y="4160520"/>
            <a:ext cx="2001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적합 업무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160520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94000" y="4160520"/>
            <a:ext cx="4287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일반 코드 작성·리뷰·문서화 등 대부분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160520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83120" y="4160520"/>
            <a:ext cx="4287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망분리 환경, 최고 민감도 자료 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29200"/>
            <a:ext cx="210312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880" y="5029200"/>
            <a:ext cx="2001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비용/자원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5029200"/>
            <a:ext cx="438912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4000" y="5029200"/>
            <a:ext cx="4287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공용 서버 자원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5029200"/>
            <a:ext cx="438912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83120" y="5029200"/>
            <a:ext cx="42875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0">
                <a:solidFill>
                  <a:srgbClr val="444A55"/>
                </a:solidFill>
                <a:latin typeface="Apple SD Gothic Neo"/>
              </a:rPr>
              <a:t>개인 PC 자원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943600"/>
            <a:ext cx="10881360" cy="6400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943600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6FB2"/>
                </a:solidFill>
                <a:latin typeface="Apple SD Gothic Neo"/>
              </a:rPr>
              <a:t>💡 운영 원칙: </a:t>
            </a:r>
            <a:r>
              <a:rPr sz="1350" b="0">
                <a:solidFill>
                  <a:srgbClr val="444A55"/>
                </a:solidFill>
                <a:latin typeface="Apple SD Gothic Neo"/>
              </a:rPr>
              <a:t>일반 업무는 Gauss, 망분리·최고민감 업무만 Ollama로 분리 운영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USE CASES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HW 개발팀 활용 방안 — 우선 적용 (단기)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017520" cy="84124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0175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활용 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508760"/>
            <a:ext cx="5486400" cy="84124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5486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1508760"/>
            <a:ext cx="2651760" cy="84124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508760"/>
            <a:ext cx="26517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기대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0008"/>
            <a:ext cx="3017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720" y="2350008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펌웨어/드라이버 작성 보조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350008"/>
            <a:ext cx="5486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1240" y="2350008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C/C++ 드라이버·HAL·통신(I2C·SPI·UART·CAN) 코드 초안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2350008"/>
            <a:ext cx="26517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7640" y="2350008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작성 시간 단축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91256"/>
            <a:ext cx="301752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720" y="3191256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레지스터 맵 자동화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191256"/>
            <a:ext cx="548640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1240" y="3191256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데이터시트의 레지스터 정의를 헤더(.h) 코드로 변환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3191256"/>
            <a:ext cx="265176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7640" y="3191256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수기 입력 오류 감소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32504"/>
            <a:ext cx="3017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720" y="4032504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테스트 자동화 스크립트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032504"/>
            <a:ext cx="5486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1240" y="4032504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계측기 제어(SCPI)·측정 자동화 Python 스크립트 생성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032504"/>
            <a:ext cx="26517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7640" y="4032504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검증 반복 업무 자동화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73752"/>
            <a:ext cx="301752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720" y="4873752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측정 데이터 분석·시각화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4873752"/>
            <a:ext cx="548640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71240" y="4873752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로그·측정 데이터 파싱, 그래프/리포트 생성 코드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4873752"/>
            <a:ext cx="265176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7640" y="4873752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분석 시간 단축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15000"/>
            <a:ext cx="3017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720" y="5715000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문서화 자동화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5715000"/>
            <a:ext cx="5486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71240" y="5715000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코드 주석·README·설계/테스트 리포트 초안 작성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5715000"/>
            <a:ext cx="26517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7640" y="5715000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문서 작성 부담 경감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USE CASES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HW 개발팀 활용 방안 — 확산 적용 (중기)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017520" cy="84124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0175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활용 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508760"/>
            <a:ext cx="5486400" cy="84124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5486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1508760"/>
            <a:ext cx="2651760" cy="84124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508760"/>
            <a:ext cx="26517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기대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0008"/>
            <a:ext cx="3017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720" y="2350008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코드 리뷰 보조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350008"/>
            <a:ext cx="5486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1240" y="2350008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코딩 규칙(MISRA-C) 점검, 잠재 버그·예외처리 누락 지적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2350008"/>
            <a:ext cx="26517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7640" y="2350008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리뷰 품질·속도 향상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91256"/>
            <a:ext cx="301752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720" y="3191256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레거시 코드 이해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191256"/>
            <a:ext cx="548640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1240" y="3191256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오래된/인수인계 펌웨어 코드 분석·설명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3191256"/>
            <a:ext cx="265176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7640" y="3191256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온보딩 가속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32504"/>
            <a:ext cx="3017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720" y="4032504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디버깅 보조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032504"/>
            <a:ext cx="5486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1240" y="4032504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에러 로그·증상 기반 원인 후보 및 수정안 제시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032504"/>
            <a:ext cx="26517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7640" y="4032504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문제 해결 시간 단축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73752"/>
            <a:ext cx="301752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720" y="4873752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빌드/CI 스크립트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4873752"/>
            <a:ext cx="548640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71240" y="4873752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Makefile·CMake·빌드 자동화 스크립트 작성·개선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4873752"/>
            <a:ext cx="2651760" cy="84124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7640" y="4873752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빌드 환경 정비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15000"/>
            <a:ext cx="3017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720" y="5715000"/>
            <a:ext cx="291592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HDL 테스트벤치 보조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5715000"/>
            <a:ext cx="5486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71240" y="5715000"/>
            <a:ext cx="5384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Verilog/VHDL testbench 초안 생성 (검토 필수)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5715000"/>
            <a:ext cx="26517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7640" y="5715000"/>
            <a:ext cx="25501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검증 환경 구축 보조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활용 시나리오 예시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881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2194560" cy="14173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194560" cy="1417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예시 1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드라이버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8229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6FB2"/>
                </a:solidFill>
                <a:latin typeface="Apple SD Gothic Neo"/>
              </a:rPr>
              <a:t>“데이터시트의 레지스터 표 기반으로 센서 초기화 드라이버와 헤더를 작성해줘”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240280"/>
            <a:ext cx="8229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→ </a:t>
            </a:r>
            <a:r>
              <a:rPr sz="1300" b="0">
                <a:solidFill>
                  <a:srgbClr val="444A55"/>
                </a:solidFill>
                <a:latin typeface="Apple SD Gothic Neo"/>
              </a:rPr>
              <a:t>Cline SR이 초안 생성 → 개발자가 검토·수정·실측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10881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2194560" cy="14173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2194560" cy="1417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예시 2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테스트 자동화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246120"/>
            <a:ext cx="8229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6FB2"/>
                </a:solidFill>
                <a:latin typeface="Apple SD Gothic Neo"/>
              </a:rPr>
              <a:t>“부하를 단계별로 바꾸며 전압·전류를 기록하는 효율 측정 스크립트를 만들어줘”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840480"/>
            <a:ext cx="8229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→ </a:t>
            </a:r>
            <a:r>
              <a:rPr sz="1300" b="0">
                <a:solidFill>
                  <a:srgbClr val="444A55"/>
                </a:solidFill>
                <a:latin typeface="Apple SD Gothic Neo"/>
              </a:rPr>
              <a:t>측정 자동화 스크립트 즉시 생성 → 반복 측정에 재사용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10881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2194560" cy="14173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2194560" cy="1417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예시 3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문서화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846320"/>
            <a:ext cx="8229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6FB2"/>
                </a:solidFill>
                <a:latin typeface="Apple SD Gothic Neo"/>
              </a:rPr>
              <a:t>“이 펌웨어 모듈의 동작을 설명하는 설계 문서 초안을 작성해줘”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440680"/>
            <a:ext cx="8229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→ </a:t>
            </a:r>
            <a:r>
              <a:rPr sz="1300" b="0">
                <a:solidFill>
                  <a:srgbClr val="444A55"/>
                </a:solidFill>
                <a:latin typeface="Apple SD Gothic Neo"/>
              </a:rPr>
              <a:t>코드 분석 후 설계 문서 초안 자동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도입 로드맵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20440" cy="7772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5204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1단계 ·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  <a:latin typeface="Apple SD Gothic Neo"/>
              </a:rPr>
              <a:t>2~3주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3063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4A55"/>
                </a:solidFill>
                <a:latin typeface="Apple SD Gothic Neo"/>
              </a:rPr>
              <a:t>환경 세팅(VS Code+Cline SR), Gauss/Ollama 연동, 보안 가이드 숙지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34640"/>
            <a:ext cx="457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29E"/>
                </a:solidFill>
                <a:latin typeface="Apple SD Gothic Neo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52044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520440" cy="777240"/>
          </a:xfrm>
          <a:prstGeom prst="round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28800"/>
            <a:ext cx="35204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2단계 ·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8892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27E2E"/>
                </a:solidFill>
                <a:latin typeface="Apple SD Gothic Neo"/>
              </a:rPr>
              <a:t>4~6주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337560"/>
            <a:ext cx="3063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4A55"/>
                </a:solidFill>
                <a:latin typeface="Apple SD Gothic Neo"/>
              </a:rPr>
              <a:t>Quick-win 과제 1~2건 시범 적용, 효과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834640"/>
            <a:ext cx="457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29E"/>
                </a:solidFill>
                <a:latin typeface="Apple SD Gothic Neo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52044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520440" cy="7772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828800"/>
            <a:ext cx="35204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3단계 · 확산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8892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  <a:latin typeface="Apple SD Gothic Neo"/>
              </a:rPr>
              <a:t>이후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37560"/>
            <a:ext cx="3063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4A55"/>
                </a:solidFill>
                <a:latin typeface="Apple SD Gothic Neo"/>
              </a:rPr>
              <a:t>팀 표준 워크플로우 정립, 활용 사례·프롬프트 가이드 공유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9200"/>
            <a:ext cx="10835640" cy="9144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6FB2"/>
                </a:solidFill>
                <a:latin typeface="Apple SD Gothic Neo"/>
              </a:rPr>
              <a:t>📌 PoC 운영 방안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444A55"/>
                </a:solidFill>
                <a:latin typeface="Apple SD Gothic Neo"/>
              </a:rPr>
              <a:t>자원자 2~3명 + 명확한 과제로 시작 / 지표 예: 작성·문서화 소요시간, 리뷰 지적 건수, 스크립트 재사용률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EXPECTED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기대 효과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49240" cy="21488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49240" cy="76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09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42A4A"/>
                </a:solidFill>
                <a:latin typeface="Apple SD Gothic Neo"/>
              </a:rPr>
              <a:t>생산성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709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44A55"/>
                </a:solidFill>
                <a:latin typeface="Apple SD Gothic Neo"/>
              </a:rPr>
              <a:t>반복·정형 코드/문서 작성 시간 단축 → 설계·검증 등 고부가 업무에 집중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349240" cy="21488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349240" cy="762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709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42A4A"/>
                </a:solidFill>
                <a:latin typeface="Apple SD Gothic Neo"/>
              </a:rPr>
              <a:t>품질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709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44A55"/>
                </a:solidFill>
                <a:latin typeface="Apple SD Gothic Neo"/>
              </a:rPr>
              <a:t>코드 리뷰·규칙 점검 보조로 결함 조기 발견, 문서화율 향상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49240" cy="21488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349240" cy="76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4709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42A4A"/>
                </a:solidFill>
                <a:latin typeface="Apple SD Gothic Neo"/>
              </a:rPr>
              <a:t>지식 자산화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92040"/>
            <a:ext cx="4709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44A55"/>
                </a:solidFill>
                <a:latin typeface="Apple SD Gothic Neo"/>
              </a:rPr>
              <a:t>레거시 코드 설명·문서 자동화로 속인화 위험 완화, 온보딩 가속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349240" cy="21488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840480"/>
            <a:ext cx="5349240" cy="762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4709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42A4A"/>
                </a:solidFill>
                <a:latin typeface="Apple SD Gothic Neo"/>
              </a:rPr>
              <a:t>보안 양립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92040"/>
            <a:ext cx="4709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44A55"/>
                </a:solidFill>
                <a:latin typeface="Apple SD Gothic Neo"/>
              </a:rPr>
              <a:t>외부 유출 없이 AI 활용 → 생산성과 보안을 동시 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RISKS &amp;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pple SD Gothic Neo"/>
              </a:rPr>
              <a:t>리스크 및 고려사항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377440" cy="82296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3774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463040"/>
            <a:ext cx="4480560" cy="82296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463040"/>
            <a:ext cx="44805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463040"/>
            <a:ext cx="4297680" cy="82296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463040"/>
            <a:ext cx="42976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대응 방안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2377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720" y="2286000"/>
            <a:ext cx="2275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결과물 정확성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286000"/>
            <a:ext cx="4480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1160" y="2286000"/>
            <a:ext cx="4378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AI 생성 코드는 오류·미흡 가능성 존재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228600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1720" y="2286000"/>
            <a:ext cx="41960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개발자 검토·실측 검증 후 적용 (AI는 보조)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08960"/>
            <a:ext cx="2377440" cy="82296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720" y="3108960"/>
            <a:ext cx="2275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HW 특화 한계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3108960"/>
            <a:ext cx="4480560" cy="82296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1160" y="3108960"/>
            <a:ext cx="4378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회로·타이밍 등 물리 영역은 직접 판단 불가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3108960"/>
            <a:ext cx="4297680" cy="82296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1720" y="3108960"/>
            <a:ext cx="41960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코드·문서·분석 등 SW성 업무 중심 활용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2377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720" y="3931920"/>
            <a:ext cx="2275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로컬 성능 제약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3931920"/>
            <a:ext cx="4480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1160" y="3931920"/>
            <a:ext cx="4378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Ollama는 PC 사양에 따라 성능 제한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93192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1720" y="3931920"/>
            <a:ext cx="41960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일반 업무는 Gauss, 고민감 업무만 Ollama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54880"/>
            <a:ext cx="2377440" cy="82296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720" y="4754880"/>
            <a:ext cx="2275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활용 역량 편차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754880"/>
            <a:ext cx="4480560" cy="82296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1160" y="4754880"/>
            <a:ext cx="4378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사용법·프롬프트 숙련도 차이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4754880"/>
            <a:ext cx="4297680" cy="82296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11720" y="4754880"/>
            <a:ext cx="41960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사내 가이드·사례 공유, 짧은 내부 교육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77840"/>
            <a:ext cx="2377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720" y="5577840"/>
            <a:ext cx="2275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보안 준수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5577840"/>
            <a:ext cx="4480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31160" y="5577840"/>
            <a:ext cx="4378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도구 사용 범위·반입 규정 준수 필요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557784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11720" y="5577840"/>
            <a:ext cx="41960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사내 보안 정책 범위 내 사용 원칙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4445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pple SD Gothic Neo"/>
              </a:rPr>
              <a:t>결론 및 제언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81528"/>
            <a:ext cx="146304" cy="146304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E8F1FA"/>
                </a:solidFill>
                <a:latin typeface="Apple SD Gothic Neo"/>
              </a:rPr>
              <a:t>VS Code + Cline SR + Gauss/Ollama는 보안 위험 없이 즉시 활용 가능한 사내 AI 코딩 환경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50208"/>
            <a:ext cx="146304" cy="146304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E8F1FA"/>
                </a:solidFill>
                <a:latin typeface="Apple SD Gothic Neo"/>
              </a:rPr>
              <a:t>HW 개발팀의 펌웨어·테스트·문서·리뷰 업무에 적용 가능, 특히 반복·정형 업무 자동화 효과 큼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18888"/>
            <a:ext cx="146304" cy="146304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0916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E8F1FA"/>
                </a:solidFill>
                <a:latin typeface="Apple SD Gothic Neo"/>
              </a:rPr>
              <a:t>제언: 저위험·고효용 과제 중심의 단계적 PoC 후 팀 확산을 건의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A929E"/>
                </a:solidFill>
                <a:latin typeface="Apple SD Gothic Neo"/>
              </a:rPr>
              <a:t>※ 모든 AI 결과물은 개발자 검토·검증을 거쳐 적용함을 원칙으로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