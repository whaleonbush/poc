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HW 개발팀 AI 코딩 에이전트 활용 방안 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도입 개요 및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63500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124712"/>
            <a:ext cx="54864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42A4A"/>
                </a:solidFill>
                <a:latin typeface="Apple SD Gothic Neo"/>
              </a:rPr>
              <a:t>1. 도입 개요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5486400" cy="1143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76200" cy="1143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F6FB2"/>
                </a:solidFill>
                <a:latin typeface="Apple SD Gothic Neo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507492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VS Code 기반 AI 코딩 에이전트 Cline SR을 사내 LLM(Gauss)·로컬 LLM(Ollama)과 연동해 HW 개발 업무에 도입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80360"/>
            <a:ext cx="5486400" cy="1143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80360"/>
            <a:ext cx="76200" cy="1143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0088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F6FB2"/>
                </a:solidFill>
                <a:latin typeface="Apple SD Gothic Neo"/>
              </a:rPr>
              <a:t>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507492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코드·설계자산을 외부로 보내지 않는 사내망·로컬 환경에서 AI 활용 → 보안 위험 없이 생산성 향상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5486400" cy="1143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76200" cy="1143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70248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F6FB2"/>
                </a:solidFill>
                <a:latin typeface="Apple SD Gothic Neo"/>
              </a:rPr>
              <a:t>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5074920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>
                <a:solidFill>
                  <a:srgbClr val="444A55"/>
                </a:solidFill>
                <a:latin typeface="Apple SD Gothic Neo"/>
              </a:rPr>
              <a:t>펌웨어·테스트·문서·리뷰 등 반복·정형 업무 자동화 → 개발 리드타임 단축, 검증 품질 향상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32120"/>
            <a:ext cx="63500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5513832"/>
            <a:ext cx="54864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42A4A"/>
                </a:solidFill>
                <a:latin typeface="Apple SD Gothic Neo"/>
              </a:rPr>
              <a:t>운영 원칙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5486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444A55"/>
                </a:solidFill>
                <a:latin typeface="Apple SD Gothic Neo"/>
              </a:rPr>
              <a:t>일반 업무 → </a:t>
            </a:r>
            <a:r>
              <a:rPr sz="1250" b="1">
                <a:solidFill>
                  <a:srgbClr val="1F6FB2"/>
                </a:solidFill>
                <a:latin typeface="Apple SD Gothic Neo"/>
              </a:rPr>
              <a:t>Gauss</a:t>
            </a:r>
            <a:r>
              <a:rPr sz="1150" b="0">
                <a:solidFill>
                  <a:srgbClr val="8A929E"/>
                </a:solidFill>
                <a:latin typeface="Apple SD Gothic Neo"/>
              </a:rPr>
              <a:t>(사내망·고성능)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444A55"/>
                </a:solidFill>
                <a:latin typeface="Apple SD Gothic Neo"/>
              </a:rPr>
              <a:t>최고 민감·망분리 → </a:t>
            </a:r>
            <a:r>
              <a:rPr sz="1250" b="1">
                <a:solidFill>
                  <a:srgbClr val="F27E2E"/>
                </a:solidFill>
                <a:latin typeface="Apple SD Gothic Neo"/>
              </a:rPr>
              <a:t>Ollama</a:t>
            </a:r>
            <a:r>
              <a:rPr sz="1150" b="0">
                <a:solidFill>
                  <a:srgbClr val="8A929E"/>
                </a:solidFill>
                <a:latin typeface="Apple SD Gothic Neo"/>
              </a:rPr>
              <a:t>(PC 내 완전 오프라인)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143000"/>
            <a:ext cx="63500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124712"/>
            <a:ext cx="54864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42A4A"/>
                </a:solidFill>
                <a:latin typeface="Apple SD Gothic Neo"/>
              </a:rPr>
              <a:t>2. 도구 구성 및 동작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00200"/>
            <a:ext cx="5257800" cy="64008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00200"/>
            <a:ext cx="525780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개발자</a:t>
            </a:r>
            <a:r>
              <a:rPr sz="1200" b="0">
                <a:solidFill>
                  <a:srgbClr val="C9D8EA"/>
                </a:solidFill>
                <a:latin typeface="Apple SD Gothic Neo"/>
              </a:rPr>
              <a:t>  · VS Code + Cline SR(에이전트)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86000"/>
            <a:ext cx="5257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929E"/>
                </a:solidFill>
                <a:latin typeface="Apple SD Gothic Neo"/>
              </a:rPr>
              <a:t>▼  두뇌(LLM) 선택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606040"/>
            <a:ext cx="2560320" cy="9144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606040"/>
            <a:ext cx="25603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Gauss 사내 API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E6F4"/>
                </a:solidFill>
                <a:latin typeface="Apple SD Gothic Neo"/>
              </a:rPr>
              <a:t>사내망·고성능·팀 공용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606040"/>
            <a:ext cx="2560320" cy="9144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2606040"/>
            <a:ext cx="256032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pple SD Gothic Neo"/>
              </a:rPr>
              <a:t>Ollama 로컬 LLM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D8E6F4"/>
                </a:solidFill>
                <a:latin typeface="Apple SD Gothic Neo"/>
              </a:rPr>
              <a:t>PC 내 완전 오프라인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40480"/>
            <a:ext cx="5257800" cy="960120"/>
          </a:xfrm>
          <a:prstGeom prst="roundRect">
            <a:avLst/>
          </a:prstGeom>
          <a:solidFill>
            <a:srgbClr val="FEF1E6"/>
          </a:solidFill>
          <a:ln w="1905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840480"/>
            <a:ext cx="493776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🔒 핵심 보안 포인트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입력 코드·결과물이 사내망/로컬 PC 밖으로 전혀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444A55"/>
                </a:solidFill>
                <a:latin typeface="Apple SD Gothic Neo"/>
              </a:rPr>
              <a:t>나가지 않음 → 외부 유출 위험 없음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52578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· VS Code : 표준 IDE(편집기)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· Cline SR : 코드 읽기/작성/수정·명령 실행을 자동 수행하는 에이전트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· Gauss : 사내 LLM API (두뇌)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· Ollama : PC 구동 로컬 LLM (오프라인)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F27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C4E8"/>
                </a:solidFill>
                <a:latin typeface="Apple SD Gothic Neo"/>
              </a:rPr>
              <a:t>HW 개발팀 AI 코딩 에이전트 활용 방안 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Apple SD Gothic Neo"/>
              </a:rPr>
              <a:t>활용 방안 및 기대 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63500" cy="292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078992"/>
            <a:ext cx="7315200" cy="3291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42A4A"/>
                </a:solidFill>
                <a:latin typeface="Apple SD Gothic Neo"/>
              </a:rPr>
              <a:t>3. HW 개발팀 활용 방안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88720" cy="47548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118872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481328"/>
            <a:ext cx="2743200" cy="47548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481328"/>
            <a:ext cx="27432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활용 방안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481328"/>
            <a:ext cx="6812280" cy="475488"/>
          </a:xfrm>
          <a:prstGeom prst="rect">
            <a:avLst/>
          </a:prstGeom>
          <a:solidFill>
            <a:srgbClr val="1F6FB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81328"/>
            <a:ext cx="68122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pple SD Gothic Neo"/>
              </a:rPr>
              <a:t>내용 / 기대 효과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56816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720" y="1956816"/>
            <a:ext cx="108712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펌웨어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1956816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42440" y="1956816"/>
            <a:ext cx="26416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드라이버·통신 코드 작성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1956816"/>
            <a:ext cx="6812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5640" y="1956816"/>
            <a:ext cx="67106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C/C++ 드라이버·HAL·I2C/SPI/UART/CAN 초안 생성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432304"/>
            <a:ext cx="118872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720" y="2432304"/>
            <a:ext cx="108712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펌웨어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2432304"/>
            <a:ext cx="274320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42440" y="2432304"/>
            <a:ext cx="26416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레지스터 맵 자동화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432304"/>
            <a:ext cx="681228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5640" y="2432304"/>
            <a:ext cx="67106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데이터시트 → 헤더(.h) 변환, 입력 오류 감소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907792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720" y="2907792"/>
            <a:ext cx="108712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검증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91640" y="2907792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42440" y="2907792"/>
            <a:ext cx="26416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테스트 자동화 스크립트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2907792"/>
            <a:ext cx="6812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5640" y="2907792"/>
            <a:ext cx="67106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계측기 제어(SCPI)·측정 자동화 Python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383280"/>
            <a:ext cx="118872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720" y="3383280"/>
            <a:ext cx="108712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검증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3383280"/>
            <a:ext cx="274320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42440" y="3383280"/>
            <a:ext cx="26416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측정 데이터 분석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3383280"/>
            <a:ext cx="681228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5640" y="3383280"/>
            <a:ext cx="67106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로그 파싱·그래프/리포트 생성, 분석시간 단축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858768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3720" y="3858768"/>
            <a:ext cx="108712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품질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3858768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42440" y="3858768"/>
            <a:ext cx="26416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코드 리뷰·디버깅 보조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34840" y="3858768"/>
            <a:ext cx="6812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5640" y="3858768"/>
            <a:ext cx="67106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MISRA-C 점검, 버그·예외처리 누락 지적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334256"/>
            <a:ext cx="118872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720" y="4334256"/>
            <a:ext cx="108712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문서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91640" y="4334256"/>
            <a:ext cx="274320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42440" y="4334256"/>
            <a:ext cx="26416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문서화 자동화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34840" y="4334256"/>
            <a:ext cx="6812280" cy="475488"/>
          </a:xfrm>
          <a:prstGeom prst="rect">
            <a:avLst/>
          </a:prstGeom>
          <a:solidFill>
            <a:srgbClr val="E8F1FA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5640" y="4334256"/>
            <a:ext cx="67106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주석·README·설계/테스트 리포트 초안 작성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809744"/>
            <a:ext cx="11887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720" y="4809744"/>
            <a:ext cx="108712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유지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91640" y="4809744"/>
            <a:ext cx="274320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42440" y="4809744"/>
            <a:ext cx="26416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레거시 코드 이해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34840" y="4809744"/>
            <a:ext cx="68122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5640" y="4809744"/>
            <a:ext cx="671068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오래된/인수인계 코드 분석·설명, 온보딩 가속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440680"/>
            <a:ext cx="3657600" cy="105156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532120"/>
            <a:ext cx="3383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F6FB2"/>
                </a:solidFill>
                <a:latin typeface="Apple SD Gothic Neo"/>
              </a:rPr>
              <a:t>기대 효과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생산성↑·품질↑·지식 자산화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보안과 생산성 동시 확보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97680" y="5440680"/>
            <a:ext cx="3657600" cy="1051560"/>
          </a:xfrm>
          <a:prstGeom prst="roundRect">
            <a:avLst/>
          </a:prstGeom>
          <a:solidFill>
            <a:srgbClr val="FEF1E6"/>
          </a:solidFill>
          <a:ln w="12700">
            <a:solidFill>
              <a:srgbClr val="F27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60" y="5532120"/>
            <a:ext cx="3383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F27E2E"/>
                </a:solidFill>
                <a:latin typeface="Apple SD Gothic Neo"/>
              </a:rPr>
              <a:t>고려사항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AI는 보조 도구 → 개발자 검토·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444A55"/>
                </a:solidFill>
                <a:latin typeface="Apple SD Gothic Neo"/>
              </a:rPr>
              <a:t>실측 검증 후 적용을 원칙으로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92440" y="5440680"/>
            <a:ext cx="3611880" cy="105156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20" y="5532120"/>
            <a:ext cx="333756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9FC4E8"/>
                </a:solidFill>
                <a:latin typeface="Apple SD Gothic Neo"/>
              </a:rPr>
              <a:t>제언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저위험·고효용 과제 중심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Apple SD Gothic Neo"/>
              </a:rPr>
              <a:t>단계적 시범 적용(PoC) 후 확산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8A929E"/>
                </a:solidFill>
                <a:latin typeface="Apple SD Gothic Neo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